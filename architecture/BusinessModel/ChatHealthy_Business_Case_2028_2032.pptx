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 i="0">
                <a:solidFill>
                  <a:srgbClr val="000000"/>
                </a:solidFill>
                <a:latin typeface="Aptos"/>
              </a:rPr>
              <a:t>ChatHealthy.ai: The Business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841248"/>
            <a:ext cx="3631539" cy="5943600"/>
          </a:xfrm>
          <a:prstGeom prst="rect">
            <a:avLst/>
          </a:prstGeom>
          <a:noFill/>
          <a:ln w="9525">
            <a:solidFill>
              <a:srgbClr val="74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886968"/>
            <a:ext cx="36315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75317"/>
                </a:solidFill>
                <a:latin typeface="Aptos"/>
              </a:rPr>
              <a:t>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08176"/>
            <a:ext cx="3448659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3% of paying customers visit per day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Average revenue per paying customer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Annual: $60.00 per year, 30% of customers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Monthly: $10.00 per month, 10%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Single Use: $2.00 per visit, 60%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Target duration of average visit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10 minutes 49 seconds (Psychology Today usage; Semrush Traffic Analytics, via Perplexity)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Target minimum visits per day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2032: 579K (Psychology Today usage; same source)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2028: 12% of the 2032 target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AI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3× today's usage per session, and that cost tripled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Hosting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Azure VMs; 6 data pipelines at $50 per month in total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Labor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$80K per month in 2028, growing 15% per year compounded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900" b="1" i="0">
                <a:solidFill>
                  <a:srgbClr val="275317"/>
                </a:solidFill>
                <a:latin typeface="Aptos"/>
              </a:rPr>
              <a:t>Sunk costs to date</a:t>
            </a:r>
          </a:p>
          <a:p>
            <a:pPr marL="347472" indent="-146304">
              <a:spcAft>
                <a:spcPts val="200"/>
              </a:spcAft>
              <a:buChar char="–"/>
            </a:pPr>
            <a:r>
              <a:rPr sz="900" b="0" i="0">
                <a:solidFill>
                  <a:srgbClr val="275317"/>
                </a:solidFill>
                <a:latin typeface="Aptos"/>
              </a:rPr>
              <a:t/>
            </a:r>
            <a:r>
              <a:rPr sz="900" b="0" i="0">
                <a:solidFill>
                  <a:srgbClr val="275317"/>
                </a:solidFill>
                <a:latin typeface="Aptos"/>
              </a:rPr>
              <a:t>$156,848 as of 9/30/2026, counted once in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924147" y="841248"/>
            <a:ext cx="4343400" cy="5943600"/>
          </a:xfrm>
          <a:prstGeom prst="rect">
            <a:avLst/>
          </a:prstGeom>
          <a:noFill/>
          <a:ln w="9525">
            <a:solidFill>
              <a:srgbClr val="74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24147" y="886968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75317"/>
                </a:solidFill>
                <a:latin typeface="Aptos"/>
              </a:rPr>
              <a:t>Numbers (2028 and 2032)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15587" y="1408176"/>
          <a:ext cx="4160520" cy="39227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57400"/>
                <a:gridCol w="1005840"/>
                <a:gridCol w="1097280"/>
              </a:tblGrid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Line</a:t>
                      </a:r>
                    </a:p>
                  </a:txBody>
                  <a:tcPr marL="27432" marR="27432" marT="9144" marB="9144" anchor="ctr">
                    <a:noFill/>
                    <a:lnB w="12700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2028</a:t>
                      </a:r>
                    </a:p>
                  </a:txBody>
                  <a:tcPr marL="27432" marR="27432" marT="9144" marB="9144" anchor="ctr">
                    <a:noFill/>
                    <a:lnB w="12700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2032</a:t>
                      </a:r>
                    </a:p>
                  </a:txBody>
                  <a:tcPr marL="27432" marR="27432" marT="9144" marB="9144" anchor="ctr">
                    <a:noFill/>
                    <a:lnB w="12700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Visits per day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69,480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579,000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Paying customers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2,316,000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19,300,000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Revenue per year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$41,630,100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$832,602,000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AI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$7,710,610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$64,234,090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Hosting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$55,662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$232,250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Labor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$1,107,237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$1,679,046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Total of all costs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$8,873,509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$66,145,385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Operating profit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$32,756,591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$766,456,615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Revenue per paying customer per year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$17.98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 i="0">
                          <a:solidFill>
                            <a:srgbClr val="275317"/>
                          </a:solidFill>
                          <a:latin typeface="Aptos"/>
                        </a:rPr>
                        <a:t>$43.14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D9E1E4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Cost per paying customer per year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$3.83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$3.43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Margin per paying customer per year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$14.14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$39.71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Operating Margins (Non-GAAP)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78.7%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 i="0">
                          <a:solidFill>
                            <a:srgbClr val="275317"/>
                          </a:solidFill>
                          <a:latin typeface="Aptos"/>
                        </a:rPr>
                        <a:t>92.1%</a:t>
                      </a:r>
                    </a:p>
                  </a:txBody>
                  <a:tcPr marL="27432" marR="27432" marT="9144" marB="9144" anchor="ctr">
                    <a:noFill/>
                    <a:lnB w="9525" cap="flat" cmpd="sng" algn="ctr">
                      <a:solidFill>
                        <a:srgbClr val="748A9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77275" y="841248"/>
            <a:ext cx="3631539" cy="5943600"/>
          </a:xfrm>
          <a:prstGeom prst="rect">
            <a:avLst/>
          </a:prstGeom>
          <a:noFill/>
          <a:ln w="9525">
            <a:solidFill>
              <a:srgbClr val="74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7275" y="886968"/>
            <a:ext cx="36315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75317"/>
                </a:solidFill>
                <a:latin typeface="Aptos"/>
              </a:rPr>
              <a:t>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8715" y="1408176"/>
            <a:ext cx="3448659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Visits per day: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2032 = 579,000 (Psychology Today, Semrush via Perplexity). 2028 = 12% of 2032 = 69,480.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Paying customers: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visits per day ÷ 3%, because 3% of paying customers visit each day.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Revenue: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2032 = paying customers × $43.14. 2028 = 5% of 2032 revenue.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Revenue per paying customer: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2032 = $43.14 = 30% × $60 + 10% × $10 × 12 + 60% × $2 × 10.95 visits a year (3% × 365). 2028 = 2028 revenue ÷ 2028 paying customers = $17.98.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AI: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$0.30 per visit × visits per year. Gemini 2.5 Flash: 4 calls × (13,456 input tokens × $0.30/M + 1,500 output × $2.50/M) × 9 = $0.28. Claude Opus 5: 0.1 calls × (4,000 in × $5/M + 250 out × $25/M) × 9 = $0.02. The 9 is your 3× usage times your 3× cost. Prompt size measured from our code; prices from Google and Anthropic.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Hosting (Azure list prices):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app VMs D4s v5 at $0.192/h, one per 250 concurrent visits at 3× peak (7 in 2028, 53 in 2032); 6 database VMs D8s v5 at $0.384/h; 70 KB per visit kept 12 months × 3 copies on P30 disks at $135.17 per TiB-month; OS disks $19.71 per VM-month; egress 3 MB per visit at $0.065/GB; pipelines $50/month.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Labor: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not proportional to traffic. $80,000/month in 2028 ($960,000 a year), growing 15% a year compounded: 2032 = $960,000 × 1.15⁴ = $1,679,046. 2028 also carries $147,237 one-time (deferred salary $147,000 + equipment).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Per paying customer: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cost = total of all costs ÷ paying customers; margin = operating profit ÷ paying customers.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Operating Margins: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operating profit ÷ revenue.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1" i="0">
                <a:solidFill>
                  <a:srgbClr val="275317"/>
                </a:solidFill>
                <a:latin typeface="Aptos"/>
              </a:rPr>
              <a:t>My assumptions (not measured): </a:t>
            </a:r>
            <a:r>
              <a:rPr sz="800" b="0" i="0">
                <a:solidFill>
                  <a:srgbClr val="275317"/>
                </a:solidFill>
                <a:latin typeface="Aptos"/>
              </a:rPr>
              <a:t>4 AI calls per visit, 1,500 output tokens, Opus on 10% of visits, 250 visits per VM, 3× peak, 6 database VMs, 70 KB stored and 3 MB served per visit. All other inputs are yours or published prices.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0" i="0">
                <a:solidFill>
                  <a:srgbClr val="275317"/>
                </a:solidFill>
                <a:latin typeface="Aptos"/>
              </a:rPr>
              <a:t/>
            </a:r>
            <a:r>
              <a:rPr sz="800" b="0" i="0">
                <a:solidFill>
                  <a:srgbClr val="275317"/>
                </a:solidFill>
                <a:latin typeface="Aptos"/>
              </a:rPr>
              <a:t>Non-GAAP.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0" i="0">
                <a:solidFill>
                  <a:srgbClr val="275317"/>
                </a:solidFill>
                <a:latin typeface="Aptos"/>
              </a:rPr>
              <a:t/>
            </a:r>
            <a:r>
              <a:rPr sz="800" b="0" i="0">
                <a:solidFill>
                  <a:srgbClr val="275317"/>
                </a:solidFill>
                <a:latin typeface="Aptos"/>
              </a:rPr>
              <a:t>2032 is the full assumption set. 2028 costs are sized at 12% of 2032 traffic; 2028 revenue is 5% of 2032 revenue.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0" i="0">
                <a:solidFill>
                  <a:srgbClr val="275317"/>
                </a:solidFill>
                <a:latin typeface="Aptos"/>
              </a:rPr>
              <a:t/>
            </a:r>
            <a:r>
              <a:rPr sz="800" b="0" i="0">
                <a:solidFill>
                  <a:srgbClr val="275317"/>
                </a:solidFill>
                <a:latin typeface="Aptos"/>
              </a:rPr>
              <a:t>One-time sunk costs ($156,848 as of 9/30/2026) are counted once, in 2028.</a:t>
            </a:r>
          </a:p>
          <a:p>
            <a:pPr marL="146304" indent="-146304">
              <a:spcAft>
                <a:spcPts val="300"/>
              </a:spcAft>
              <a:buChar char="•"/>
            </a:pPr>
            <a:r>
              <a:rPr sz="800" b="0" i="0">
                <a:solidFill>
                  <a:srgbClr val="275317"/>
                </a:solidFill>
                <a:latin typeface="Aptos"/>
              </a:rPr>
              <a:t/>
            </a:r>
            <a:r>
              <a:rPr sz="800" b="0" i="0">
                <a:solidFill>
                  <a:srgbClr val="275317"/>
                </a:solidFill>
                <a:latin typeface="Aptos"/>
              </a:rPr>
              <a:t>Excludes payment processing fees and taxes.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