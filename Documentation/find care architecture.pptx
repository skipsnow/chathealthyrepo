
<file path=[Content_Types].xml><?xml version="1.0" encoding="utf-8"?>
<Types xmlns="http://schemas.openxmlformats.org/package/2006/content-types">
  <Default Extension="jpeg" ContentType="image/jpeg"/>
  <Default Extension="rels" ContentType="application/vnd.openxmlformats-package.relationships+xml"/>
  <Default Extension="ti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7" r:id="rId2"/>
    <p:sldId id="260" r:id="rId3"/>
    <p:sldId id="261" r:id="rId4"/>
    <p:sldId id="262" r:id="rId5"/>
    <p:sldId id="263" r:id="rId6"/>
    <p:sldId id="264" r:id="rId7"/>
    <p:sldId id="265" r:id="rId8"/>
    <p:sldId id="270" r:id="rId9"/>
    <p:sldId id="266" r:id="rId10"/>
    <p:sldId id="267" r:id="rId11"/>
    <p:sldId id="268" r:id="rId12"/>
    <p:sldId id="269"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2" d="100"/>
          <a:sy n="52" d="100"/>
        </p:scale>
        <p:origin x="374"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D8EE6BA-71A9-42F4-B345-3FAD622592E3}" type="datetimeFigureOut">
              <a:rPr lang="en-US" smtClean="0"/>
              <a:t>3/12/2026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9ACA0A-AA30-4B0F-8193-002A43B917D7}" type="slidenum">
              <a:rPr lang="en-US" smtClean="0"/>
              <a:t>‹#›</a:t>
            </a:fld>
            <a:endParaRPr lang="en-US"/>
          </a:p>
        </p:txBody>
      </p:sp>
    </p:spTree>
    <p:extLst>
      <p:ext uri="{BB962C8B-B14F-4D97-AF65-F5344CB8AC3E}">
        <p14:creationId xmlns:p14="http://schemas.microsoft.com/office/powerpoint/2010/main" val="19806627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C9ACA0A-AA30-4B0F-8193-002A43B917D7}" type="slidenum">
              <a:rPr lang="en-US" smtClean="0"/>
              <a:t>3</a:t>
            </a:fld>
            <a:endParaRPr lang="en-US"/>
          </a:p>
        </p:txBody>
      </p:sp>
    </p:spTree>
    <p:extLst>
      <p:ext uri="{BB962C8B-B14F-4D97-AF65-F5344CB8AC3E}">
        <p14:creationId xmlns:p14="http://schemas.microsoft.com/office/powerpoint/2010/main" val="23630796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D869EB-C386-C974-2BA5-BD9B6FD8A2C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83343BA-4942-97E9-D5CA-78AD84E5F90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430F699-F3F6-E8F8-2E61-5C343423ABBD}"/>
              </a:ext>
            </a:extLst>
          </p:cNvPr>
          <p:cNvSpPr>
            <a:spLocks noGrp="1"/>
          </p:cNvSpPr>
          <p:nvPr>
            <p:ph type="dt" sz="half" idx="10"/>
          </p:nvPr>
        </p:nvSpPr>
        <p:spPr/>
        <p:txBody>
          <a:bodyPr/>
          <a:lstStyle/>
          <a:p>
            <a:fld id="{24FC3CB5-2D61-4B7E-A1FC-419431710332}" type="datetimeFigureOut">
              <a:rPr lang="en-US" smtClean="0"/>
              <a:t>3/12/2026</a:t>
            </a:fld>
            <a:endParaRPr lang="en-US"/>
          </a:p>
        </p:txBody>
      </p:sp>
      <p:sp>
        <p:nvSpPr>
          <p:cNvPr id="5" name="Footer Placeholder 4">
            <a:extLst>
              <a:ext uri="{FF2B5EF4-FFF2-40B4-BE49-F238E27FC236}">
                <a16:creationId xmlns:a16="http://schemas.microsoft.com/office/drawing/2014/main" id="{B9AC0838-5FA8-4E04-FD35-A25607514D5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8A5E67-3F90-A04B-6AC2-910274BE886F}"/>
              </a:ext>
            </a:extLst>
          </p:cNvPr>
          <p:cNvSpPr>
            <a:spLocks noGrp="1"/>
          </p:cNvSpPr>
          <p:nvPr>
            <p:ph type="sldNum" sz="quarter" idx="12"/>
          </p:nvPr>
        </p:nvSpPr>
        <p:spPr/>
        <p:txBody>
          <a:bodyPr/>
          <a:lstStyle/>
          <a:p>
            <a:fld id="{DF096FF5-397A-4861-BC58-6107AEB70B14}" type="slidenum">
              <a:rPr lang="en-US" smtClean="0"/>
              <a:t>‹#›</a:t>
            </a:fld>
            <a:endParaRPr lang="en-US"/>
          </a:p>
        </p:txBody>
      </p:sp>
    </p:spTree>
    <p:extLst>
      <p:ext uri="{BB962C8B-B14F-4D97-AF65-F5344CB8AC3E}">
        <p14:creationId xmlns:p14="http://schemas.microsoft.com/office/powerpoint/2010/main" val="13885616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067AD1-3E6B-A4E4-FF28-0DE99EF60BD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103D3D3-AA4B-20A6-1360-B5E16C86443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6156E61-4E89-3207-B050-D966D8889685}"/>
              </a:ext>
            </a:extLst>
          </p:cNvPr>
          <p:cNvSpPr>
            <a:spLocks noGrp="1"/>
          </p:cNvSpPr>
          <p:nvPr>
            <p:ph type="dt" sz="half" idx="10"/>
          </p:nvPr>
        </p:nvSpPr>
        <p:spPr/>
        <p:txBody>
          <a:bodyPr/>
          <a:lstStyle/>
          <a:p>
            <a:fld id="{24FC3CB5-2D61-4B7E-A1FC-419431710332}" type="datetimeFigureOut">
              <a:rPr lang="en-US" smtClean="0"/>
              <a:t>3/12/2026</a:t>
            </a:fld>
            <a:endParaRPr lang="en-US"/>
          </a:p>
        </p:txBody>
      </p:sp>
      <p:sp>
        <p:nvSpPr>
          <p:cNvPr id="5" name="Footer Placeholder 4">
            <a:extLst>
              <a:ext uri="{FF2B5EF4-FFF2-40B4-BE49-F238E27FC236}">
                <a16:creationId xmlns:a16="http://schemas.microsoft.com/office/drawing/2014/main" id="{6D45B212-3218-ABAD-D48F-F898A41963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03E6905-40DD-BE43-6A67-0216C70F2007}"/>
              </a:ext>
            </a:extLst>
          </p:cNvPr>
          <p:cNvSpPr>
            <a:spLocks noGrp="1"/>
          </p:cNvSpPr>
          <p:nvPr>
            <p:ph type="sldNum" sz="quarter" idx="12"/>
          </p:nvPr>
        </p:nvSpPr>
        <p:spPr/>
        <p:txBody>
          <a:bodyPr/>
          <a:lstStyle/>
          <a:p>
            <a:fld id="{DF096FF5-397A-4861-BC58-6107AEB70B14}" type="slidenum">
              <a:rPr lang="en-US" smtClean="0"/>
              <a:t>‹#›</a:t>
            </a:fld>
            <a:endParaRPr lang="en-US"/>
          </a:p>
        </p:txBody>
      </p:sp>
    </p:spTree>
    <p:extLst>
      <p:ext uri="{BB962C8B-B14F-4D97-AF65-F5344CB8AC3E}">
        <p14:creationId xmlns:p14="http://schemas.microsoft.com/office/powerpoint/2010/main" val="12056942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34B2F-D445-44EF-898D-1D0DB9462C7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6CD213B-D30B-096B-99B9-9A74FB144FA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94648ED-0AF2-0596-03CD-873FFD5F9FAF}"/>
              </a:ext>
            </a:extLst>
          </p:cNvPr>
          <p:cNvSpPr>
            <a:spLocks noGrp="1"/>
          </p:cNvSpPr>
          <p:nvPr>
            <p:ph type="dt" sz="half" idx="10"/>
          </p:nvPr>
        </p:nvSpPr>
        <p:spPr/>
        <p:txBody>
          <a:bodyPr/>
          <a:lstStyle/>
          <a:p>
            <a:fld id="{24FC3CB5-2D61-4B7E-A1FC-419431710332}" type="datetimeFigureOut">
              <a:rPr lang="en-US" smtClean="0"/>
              <a:t>3/12/2026</a:t>
            </a:fld>
            <a:endParaRPr lang="en-US"/>
          </a:p>
        </p:txBody>
      </p:sp>
      <p:sp>
        <p:nvSpPr>
          <p:cNvPr id="5" name="Footer Placeholder 4">
            <a:extLst>
              <a:ext uri="{FF2B5EF4-FFF2-40B4-BE49-F238E27FC236}">
                <a16:creationId xmlns:a16="http://schemas.microsoft.com/office/drawing/2014/main" id="{580942C7-45D0-A84A-F878-3D13E6FFBA8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059C5DB-F14C-4119-E030-C61D6043575B}"/>
              </a:ext>
            </a:extLst>
          </p:cNvPr>
          <p:cNvSpPr>
            <a:spLocks noGrp="1"/>
          </p:cNvSpPr>
          <p:nvPr>
            <p:ph type="sldNum" sz="quarter" idx="12"/>
          </p:nvPr>
        </p:nvSpPr>
        <p:spPr/>
        <p:txBody>
          <a:bodyPr/>
          <a:lstStyle/>
          <a:p>
            <a:fld id="{DF096FF5-397A-4861-BC58-6107AEB70B14}" type="slidenum">
              <a:rPr lang="en-US" smtClean="0"/>
              <a:t>‹#›</a:t>
            </a:fld>
            <a:endParaRPr lang="en-US"/>
          </a:p>
        </p:txBody>
      </p:sp>
    </p:spTree>
    <p:extLst>
      <p:ext uri="{BB962C8B-B14F-4D97-AF65-F5344CB8AC3E}">
        <p14:creationId xmlns:p14="http://schemas.microsoft.com/office/powerpoint/2010/main" val="38719149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4646F2-9A9C-C226-645F-815D2506FFD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4DF10F5-3545-A0A3-92C7-718CDD7A999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0071A65-00CF-F7CE-877B-C502635BC71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648F986-14AD-2097-49DC-B85176650711}"/>
              </a:ext>
            </a:extLst>
          </p:cNvPr>
          <p:cNvSpPr>
            <a:spLocks noGrp="1"/>
          </p:cNvSpPr>
          <p:nvPr>
            <p:ph type="dt" sz="half" idx="10"/>
          </p:nvPr>
        </p:nvSpPr>
        <p:spPr/>
        <p:txBody>
          <a:bodyPr/>
          <a:lstStyle/>
          <a:p>
            <a:fld id="{24FC3CB5-2D61-4B7E-A1FC-419431710332}" type="datetimeFigureOut">
              <a:rPr lang="en-US" smtClean="0"/>
              <a:t>3/12/2026</a:t>
            </a:fld>
            <a:endParaRPr lang="en-US"/>
          </a:p>
        </p:txBody>
      </p:sp>
      <p:sp>
        <p:nvSpPr>
          <p:cNvPr id="6" name="Footer Placeholder 5">
            <a:extLst>
              <a:ext uri="{FF2B5EF4-FFF2-40B4-BE49-F238E27FC236}">
                <a16:creationId xmlns:a16="http://schemas.microsoft.com/office/drawing/2014/main" id="{5A9AC1DA-1F86-2798-53C9-5F6249BB094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9C9ED37-67E3-D059-3CE6-748632032EE8}"/>
              </a:ext>
            </a:extLst>
          </p:cNvPr>
          <p:cNvSpPr>
            <a:spLocks noGrp="1"/>
          </p:cNvSpPr>
          <p:nvPr>
            <p:ph type="sldNum" sz="quarter" idx="12"/>
          </p:nvPr>
        </p:nvSpPr>
        <p:spPr/>
        <p:txBody>
          <a:bodyPr/>
          <a:lstStyle/>
          <a:p>
            <a:fld id="{DF096FF5-397A-4861-BC58-6107AEB70B14}" type="slidenum">
              <a:rPr lang="en-US" smtClean="0"/>
              <a:t>‹#›</a:t>
            </a:fld>
            <a:endParaRPr lang="en-US"/>
          </a:p>
        </p:txBody>
      </p:sp>
    </p:spTree>
    <p:extLst>
      <p:ext uri="{BB962C8B-B14F-4D97-AF65-F5344CB8AC3E}">
        <p14:creationId xmlns:p14="http://schemas.microsoft.com/office/powerpoint/2010/main" val="6599783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A42117-DF6A-093F-09D6-4B073A065C4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A43E1A5-3478-0A94-254B-6F73CF404B7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7330A75-3BAC-F43F-AC8A-E8B37869D53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A43372E-E742-36B5-070C-4E5C08F3FC2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5CFCA71-8FA9-1855-F2B7-3C69FDCA442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5A39309-BFDA-118E-B5A3-1BFFBC1EBB2F}"/>
              </a:ext>
            </a:extLst>
          </p:cNvPr>
          <p:cNvSpPr>
            <a:spLocks noGrp="1"/>
          </p:cNvSpPr>
          <p:nvPr>
            <p:ph type="dt" sz="half" idx="10"/>
          </p:nvPr>
        </p:nvSpPr>
        <p:spPr/>
        <p:txBody>
          <a:bodyPr/>
          <a:lstStyle/>
          <a:p>
            <a:fld id="{24FC3CB5-2D61-4B7E-A1FC-419431710332}" type="datetimeFigureOut">
              <a:rPr lang="en-US" smtClean="0"/>
              <a:t>3/12/2026</a:t>
            </a:fld>
            <a:endParaRPr lang="en-US"/>
          </a:p>
        </p:txBody>
      </p:sp>
      <p:sp>
        <p:nvSpPr>
          <p:cNvPr id="8" name="Footer Placeholder 7">
            <a:extLst>
              <a:ext uri="{FF2B5EF4-FFF2-40B4-BE49-F238E27FC236}">
                <a16:creationId xmlns:a16="http://schemas.microsoft.com/office/drawing/2014/main" id="{7B26A810-703B-7AB3-D10C-1B7EECAEFEC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993B0FF-5F4E-9E0B-E30C-BA15DE1E828C}"/>
              </a:ext>
            </a:extLst>
          </p:cNvPr>
          <p:cNvSpPr>
            <a:spLocks noGrp="1"/>
          </p:cNvSpPr>
          <p:nvPr>
            <p:ph type="sldNum" sz="quarter" idx="12"/>
          </p:nvPr>
        </p:nvSpPr>
        <p:spPr/>
        <p:txBody>
          <a:bodyPr/>
          <a:lstStyle/>
          <a:p>
            <a:fld id="{DF096FF5-397A-4861-BC58-6107AEB70B14}" type="slidenum">
              <a:rPr lang="en-US" smtClean="0"/>
              <a:t>‹#›</a:t>
            </a:fld>
            <a:endParaRPr lang="en-US"/>
          </a:p>
        </p:txBody>
      </p:sp>
    </p:spTree>
    <p:extLst>
      <p:ext uri="{BB962C8B-B14F-4D97-AF65-F5344CB8AC3E}">
        <p14:creationId xmlns:p14="http://schemas.microsoft.com/office/powerpoint/2010/main" val="16420613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256366-B906-50B6-C0E2-D94E28D4491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132E1EF-C357-26C0-6E31-B6A68C004F05}"/>
              </a:ext>
            </a:extLst>
          </p:cNvPr>
          <p:cNvSpPr>
            <a:spLocks noGrp="1"/>
          </p:cNvSpPr>
          <p:nvPr>
            <p:ph type="dt" sz="half" idx="10"/>
          </p:nvPr>
        </p:nvSpPr>
        <p:spPr/>
        <p:txBody>
          <a:bodyPr/>
          <a:lstStyle/>
          <a:p>
            <a:fld id="{24FC3CB5-2D61-4B7E-A1FC-419431710332}" type="datetimeFigureOut">
              <a:rPr lang="en-US" smtClean="0"/>
              <a:t>3/12/2026</a:t>
            </a:fld>
            <a:endParaRPr lang="en-US"/>
          </a:p>
        </p:txBody>
      </p:sp>
      <p:sp>
        <p:nvSpPr>
          <p:cNvPr id="4" name="Footer Placeholder 3">
            <a:extLst>
              <a:ext uri="{FF2B5EF4-FFF2-40B4-BE49-F238E27FC236}">
                <a16:creationId xmlns:a16="http://schemas.microsoft.com/office/drawing/2014/main" id="{86427DBF-BBCE-BCEE-19CA-0696325D5D2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A518269-85C5-39F5-31C9-F8A8BFE9C32F}"/>
              </a:ext>
            </a:extLst>
          </p:cNvPr>
          <p:cNvSpPr>
            <a:spLocks noGrp="1"/>
          </p:cNvSpPr>
          <p:nvPr>
            <p:ph type="sldNum" sz="quarter" idx="12"/>
          </p:nvPr>
        </p:nvSpPr>
        <p:spPr/>
        <p:txBody>
          <a:bodyPr/>
          <a:lstStyle/>
          <a:p>
            <a:fld id="{DF096FF5-397A-4861-BC58-6107AEB70B14}" type="slidenum">
              <a:rPr lang="en-US" smtClean="0"/>
              <a:t>‹#›</a:t>
            </a:fld>
            <a:endParaRPr lang="en-US"/>
          </a:p>
        </p:txBody>
      </p:sp>
    </p:spTree>
    <p:extLst>
      <p:ext uri="{BB962C8B-B14F-4D97-AF65-F5344CB8AC3E}">
        <p14:creationId xmlns:p14="http://schemas.microsoft.com/office/powerpoint/2010/main" val="32331705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6E3374-BFA9-8609-CDF3-6516C1666820}"/>
              </a:ext>
            </a:extLst>
          </p:cNvPr>
          <p:cNvSpPr>
            <a:spLocks noGrp="1"/>
          </p:cNvSpPr>
          <p:nvPr>
            <p:ph type="dt" sz="half" idx="10"/>
          </p:nvPr>
        </p:nvSpPr>
        <p:spPr/>
        <p:txBody>
          <a:bodyPr/>
          <a:lstStyle/>
          <a:p>
            <a:fld id="{24FC3CB5-2D61-4B7E-A1FC-419431710332}" type="datetimeFigureOut">
              <a:rPr lang="en-US" smtClean="0"/>
              <a:t>3/12/2026</a:t>
            </a:fld>
            <a:endParaRPr lang="en-US"/>
          </a:p>
        </p:txBody>
      </p:sp>
      <p:sp>
        <p:nvSpPr>
          <p:cNvPr id="3" name="Footer Placeholder 2">
            <a:extLst>
              <a:ext uri="{FF2B5EF4-FFF2-40B4-BE49-F238E27FC236}">
                <a16:creationId xmlns:a16="http://schemas.microsoft.com/office/drawing/2014/main" id="{86E7CC2A-4A9F-84B3-7AE4-631515921C9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7D6D69A-6168-3636-A3AE-A0E671A66D5E}"/>
              </a:ext>
            </a:extLst>
          </p:cNvPr>
          <p:cNvSpPr>
            <a:spLocks noGrp="1"/>
          </p:cNvSpPr>
          <p:nvPr>
            <p:ph type="sldNum" sz="quarter" idx="12"/>
          </p:nvPr>
        </p:nvSpPr>
        <p:spPr/>
        <p:txBody>
          <a:bodyPr/>
          <a:lstStyle/>
          <a:p>
            <a:fld id="{DF096FF5-397A-4861-BC58-6107AEB70B14}" type="slidenum">
              <a:rPr lang="en-US" smtClean="0"/>
              <a:t>‹#›</a:t>
            </a:fld>
            <a:endParaRPr lang="en-US"/>
          </a:p>
        </p:txBody>
      </p:sp>
    </p:spTree>
    <p:extLst>
      <p:ext uri="{BB962C8B-B14F-4D97-AF65-F5344CB8AC3E}">
        <p14:creationId xmlns:p14="http://schemas.microsoft.com/office/powerpoint/2010/main" val="9870257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9D8529-EBA2-087B-8D48-2F98740AB98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66EB654-5113-43BE-F6FC-276330B32E3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BDE3A0C-A634-845E-4F80-CFA02019E96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B890D8F-CBA8-C7E2-A357-DA3A24189A7A}"/>
              </a:ext>
            </a:extLst>
          </p:cNvPr>
          <p:cNvSpPr>
            <a:spLocks noGrp="1"/>
          </p:cNvSpPr>
          <p:nvPr>
            <p:ph type="dt" sz="half" idx="10"/>
          </p:nvPr>
        </p:nvSpPr>
        <p:spPr/>
        <p:txBody>
          <a:bodyPr/>
          <a:lstStyle/>
          <a:p>
            <a:fld id="{24FC3CB5-2D61-4B7E-A1FC-419431710332}" type="datetimeFigureOut">
              <a:rPr lang="en-US" smtClean="0"/>
              <a:t>3/12/2026</a:t>
            </a:fld>
            <a:endParaRPr lang="en-US"/>
          </a:p>
        </p:txBody>
      </p:sp>
      <p:sp>
        <p:nvSpPr>
          <p:cNvPr id="6" name="Footer Placeholder 5">
            <a:extLst>
              <a:ext uri="{FF2B5EF4-FFF2-40B4-BE49-F238E27FC236}">
                <a16:creationId xmlns:a16="http://schemas.microsoft.com/office/drawing/2014/main" id="{5EA8A0C5-C797-99C0-E338-F196BB83BEB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37E9C43-23F7-B6F8-6174-27BE7398AC83}"/>
              </a:ext>
            </a:extLst>
          </p:cNvPr>
          <p:cNvSpPr>
            <a:spLocks noGrp="1"/>
          </p:cNvSpPr>
          <p:nvPr>
            <p:ph type="sldNum" sz="quarter" idx="12"/>
          </p:nvPr>
        </p:nvSpPr>
        <p:spPr/>
        <p:txBody>
          <a:bodyPr/>
          <a:lstStyle/>
          <a:p>
            <a:fld id="{DF096FF5-397A-4861-BC58-6107AEB70B14}" type="slidenum">
              <a:rPr lang="en-US" smtClean="0"/>
              <a:t>‹#›</a:t>
            </a:fld>
            <a:endParaRPr lang="en-US"/>
          </a:p>
        </p:txBody>
      </p:sp>
    </p:spTree>
    <p:extLst>
      <p:ext uri="{BB962C8B-B14F-4D97-AF65-F5344CB8AC3E}">
        <p14:creationId xmlns:p14="http://schemas.microsoft.com/office/powerpoint/2010/main" val="37451544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3530D9-06B0-4ABA-BADB-B712B26BB1E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CFA3413-937F-E396-DD20-04343A3F94B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B0E461E-48CA-F9EF-1A29-716CE694C18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517896-3186-345E-ACA0-A0F565462675}"/>
              </a:ext>
            </a:extLst>
          </p:cNvPr>
          <p:cNvSpPr>
            <a:spLocks noGrp="1"/>
          </p:cNvSpPr>
          <p:nvPr>
            <p:ph type="dt" sz="half" idx="10"/>
          </p:nvPr>
        </p:nvSpPr>
        <p:spPr/>
        <p:txBody>
          <a:bodyPr/>
          <a:lstStyle/>
          <a:p>
            <a:fld id="{24FC3CB5-2D61-4B7E-A1FC-419431710332}" type="datetimeFigureOut">
              <a:rPr lang="en-US" smtClean="0"/>
              <a:t>3/12/2026</a:t>
            </a:fld>
            <a:endParaRPr lang="en-US"/>
          </a:p>
        </p:txBody>
      </p:sp>
      <p:sp>
        <p:nvSpPr>
          <p:cNvPr id="6" name="Footer Placeholder 5">
            <a:extLst>
              <a:ext uri="{FF2B5EF4-FFF2-40B4-BE49-F238E27FC236}">
                <a16:creationId xmlns:a16="http://schemas.microsoft.com/office/drawing/2014/main" id="{4CA22B12-CD1C-4EC3-CD64-FE12EFABAF4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3997FB9-A10D-1450-2139-49F37889C17C}"/>
              </a:ext>
            </a:extLst>
          </p:cNvPr>
          <p:cNvSpPr>
            <a:spLocks noGrp="1"/>
          </p:cNvSpPr>
          <p:nvPr>
            <p:ph type="sldNum" sz="quarter" idx="12"/>
          </p:nvPr>
        </p:nvSpPr>
        <p:spPr/>
        <p:txBody>
          <a:bodyPr/>
          <a:lstStyle/>
          <a:p>
            <a:fld id="{DF096FF5-397A-4861-BC58-6107AEB70B14}" type="slidenum">
              <a:rPr lang="en-US" smtClean="0"/>
              <a:t>‹#›</a:t>
            </a:fld>
            <a:endParaRPr lang="en-US"/>
          </a:p>
        </p:txBody>
      </p:sp>
    </p:spTree>
    <p:extLst>
      <p:ext uri="{BB962C8B-B14F-4D97-AF65-F5344CB8AC3E}">
        <p14:creationId xmlns:p14="http://schemas.microsoft.com/office/powerpoint/2010/main" val="15045003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8A4624-0526-44DD-B62A-43E3DC9A901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DCE7BCA-1649-B307-9660-6BEC84EED9B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E0BF0A3-A5D0-758D-AE67-8AE9C3B4C57B}"/>
              </a:ext>
            </a:extLst>
          </p:cNvPr>
          <p:cNvSpPr>
            <a:spLocks noGrp="1"/>
          </p:cNvSpPr>
          <p:nvPr>
            <p:ph type="dt" sz="half" idx="10"/>
          </p:nvPr>
        </p:nvSpPr>
        <p:spPr/>
        <p:txBody>
          <a:bodyPr/>
          <a:lstStyle/>
          <a:p>
            <a:fld id="{24FC3CB5-2D61-4B7E-A1FC-419431710332}" type="datetimeFigureOut">
              <a:rPr lang="en-US" smtClean="0"/>
              <a:t>3/12/2026</a:t>
            </a:fld>
            <a:endParaRPr lang="en-US"/>
          </a:p>
        </p:txBody>
      </p:sp>
      <p:sp>
        <p:nvSpPr>
          <p:cNvPr id="5" name="Footer Placeholder 4">
            <a:extLst>
              <a:ext uri="{FF2B5EF4-FFF2-40B4-BE49-F238E27FC236}">
                <a16:creationId xmlns:a16="http://schemas.microsoft.com/office/drawing/2014/main" id="{4E1DFC57-1BE2-71AB-7456-72713B4328C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FF4FD12-A253-1E28-7840-90585F0E5BFB}"/>
              </a:ext>
            </a:extLst>
          </p:cNvPr>
          <p:cNvSpPr>
            <a:spLocks noGrp="1"/>
          </p:cNvSpPr>
          <p:nvPr>
            <p:ph type="sldNum" sz="quarter" idx="12"/>
          </p:nvPr>
        </p:nvSpPr>
        <p:spPr/>
        <p:txBody>
          <a:bodyPr/>
          <a:lstStyle/>
          <a:p>
            <a:fld id="{DF096FF5-397A-4861-BC58-6107AEB70B14}" type="slidenum">
              <a:rPr lang="en-US" smtClean="0"/>
              <a:t>‹#›</a:t>
            </a:fld>
            <a:endParaRPr lang="en-US"/>
          </a:p>
        </p:txBody>
      </p:sp>
    </p:spTree>
    <p:extLst>
      <p:ext uri="{BB962C8B-B14F-4D97-AF65-F5344CB8AC3E}">
        <p14:creationId xmlns:p14="http://schemas.microsoft.com/office/powerpoint/2010/main" val="4236140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F5FA276-8971-D99A-C5E0-0BE29822977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F0145FE-F35E-B448-6255-608A3D9AF5C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98F01B3-EFBD-903A-F2EA-B597824B6C44}"/>
              </a:ext>
            </a:extLst>
          </p:cNvPr>
          <p:cNvSpPr>
            <a:spLocks noGrp="1"/>
          </p:cNvSpPr>
          <p:nvPr>
            <p:ph type="dt" sz="half" idx="10"/>
          </p:nvPr>
        </p:nvSpPr>
        <p:spPr/>
        <p:txBody>
          <a:bodyPr/>
          <a:lstStyle/>
          <a:p>
            <a:fld id="{24FC3CB5-2D61-4B7E-A1FC-419431710332}" type="datetimeFigureOut">
              <a:rPr lang="en-US" smtClean="0"/>
              <a:t>3/12/2026</a:t>
            </a:fld>
            <a:endParaRPr lang="en-US"/>
          </a:p>
        </p:txBody>
      </p:sp>
      <p:sp>
        <p:nvSpPr>
          <p:cNvPr id="5" name="Footer Placeholder 4">
            <a:extLst>
              <a:ext uri="{FF2B5EF4-FFF2-40B4-BE49-F238E27FC236}">
                <a16:creationId xmlns:a16="http://schemas.microsoft.com/office/drawing/2014/main" id="{28892B1C-25E6-58C9-DDB2-7B7F041DE3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E54D67E-A0AC-A17D-C796-00772045E276}"/>
              </a:ext>
            </a:extLst>
          </p:cNvPr>
          <p:cNvSpPr>
            <a:spLocks noGrp="1"/>
          </p:cNvSpPr>
          <p:nvPr>
            <p:ph type="sldNum" sz="quarter" idx="12"/>
          </p:nvPr>
        </p:nvSpPr>
        <p:spPr/>
        <p:txBody>
          <a:bodyPr/>
          <a:lstStyle/>
          <a:p>
            <a:fld id="{DF096FF5-397A-4861-BC58-6107AEB70B14}" type="slidenum">
              <a:rPr lang="en-US" smtClean="0"/>
              <a:t>‹#›</a:t>
            </a:fld>
            <a:endParaRPr lang="en-US"/>
          </a:p>
        </p:txBody>
      </p:sp>
    </p:spTree>
    <p:extLst>
      <p:ext uri="{BB962C8B-B14F-4D97-AF65-F5344CB8AC3E}">
        <p14:creationId xmlns:p14="http://schemas.microsoft.com/office/powerpoint/2010/main" val="16764771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1CDED78-A172-5B3A-3C8D-140A9F881F0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B57168A-09D0-2DB3-8FBA-977BC0DEE8D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040EAE-28B6-7576-0CDF-E7B43F4EC1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4FC3CB5-2D61-4B7E-A1FC-419431710332}" type="datetimeFigureOut">
              <a:rPr lang="en-US" smtClean="0"/>
              <a:t>3/12/2026</a:t>
            </a:fld>
            <a:endParaRPr lang="en-US"/>
          </a:p>
        </p:txBody>
      </p:sp>
      <p:sp>
        <p:nvSpPr>
          <p:cNvPr id="5" name="Footer Placeholder 4">
            <a:extLst>
              <a:ext uri="{FF2B5EF4-FFF2-40B4-BE49-F238E27FC236}">
                <a16:creationId xmlns:a16="http://schemas.microsoft.com/office/drawing/2014/main" id="{2AEAEA44-734F-C042-A8F0-3DD5091685F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AD78F2B-E5DE-003A-37E3-327135B88FF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F096FF5-397A-4861-BC58-6107AEB70B14}" type="slidenum">
              <a:rPr lang="en-US" smtClean="0"/>
              <a:t>‹#›</a:t>
            </a:fld>
            <a:endParaRPr lang="en-US"/>
          </a:p>
        </p:txBody>
      </p:sp>
    </p:spTree>
    <p:extLst>
      <p:ext uri="{BB962C8B-B14F-4D97-AF65-F5344CB8AC3E}">
        <p14:creationId xmlns:p14="http://schemas.microsoft.com/office/powerpoint/2010/main" val="4498584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tif"/><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mailto:skip.snow@gmail.com"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162A57-1062-77D1-1E1D-6D6DA1738BC1}"/>
              </a:ext>
            </a:extLst>
          </p:cNvPr>
          <p:cNvSpPr>
            <a:spLocks noGrp="1"/>
          </p:cNvSpPr>
          <p:nvPr>
            <p:ph type="ctrTitle"/>
          </p:nvPr>
        </p:nvSpPr>
        <p:spPr/>
        <p:txBody>
          <a:bodyPr/>
          <a:lstStyle/>
          <a:p>
            <a:r>
              <a:rPr lang="en-US" dirty="0"/>
              <a:t>Find Care 	Architecture</a:t>
            </a:r>
          </a:p>
        </p:txBody>
      </p:sp>
      <p:sp>
        <p:nvSpPr>
          <p:cNvPr id="3" name="Subtitle 2">
            <a:extLst>
              <a:ext uri="{FF2B5EF4-FFF2-40B4-BE49-F238E27FC236}">
                <a16:creationId xmlns:a16="http://schemas.microsoft.com/office/drawing/2014/main" id="{CD47219E-1624-626B-EE7B-C7AD2DED6505}"/>
              </a:ext>
            </a:extLst>
          </p:cNvPr>
          <p:cNvSpPr>
            <a:spLocks noGrp="1"/>
          </p:cNvSpPr>
          <p:nvPr>
            <p:ph type="subTitle" idx="1"/>
          </p:nvPr>
        </p:nvSpPr>
        <p:spPr/>
        <p:txBody>
          <a:bodyPr/>
          <a:lstStyle/>
          <a:p>
            <a:r>
              <a:rPr lang="en-US" dirty="0"/>
              <a:t>Interface specification used by chat GPT and FIGMA to produce front end and back-end code for the Find Care AI application.  Back end uses Gradio and fastAPI. </a:t>
            </a:r>
          </a:p>
        </p:txBody>
      </p:sp>
    </p:spTree>
    <p:extLst>
      <p:ext uri="{BB962C8B-B14F-4D97-AF65-F5344CB8AC3E}">
        <p14:creationId xmlns:p14="http://schemas.microsoft.com/office/powerpoint/2010/main" val="36884127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B4603E-5B2F-898B-0A63-6AAD9C4CF6C2}"/>
              </a:ext>
            </a:extLst>
          </p:cNvPr>
          <p:cNvSpPr>
            <a:spLocks noGrp="1"/>
          </p:cNvSpPr>
          <p:nvPr>
            <p:ph type="title"/>
          </p:nvPr>
        </p:nvSpPr>
        <p:spPr/>
        <p:txBody>
          <a:bodyPr/>
          <a:lstStyle/>
          <a:p>
            <a:r>
              <a:rPr lang="en-US" dirty="0"/>
              <a:t>Overview</a:t>
            </a:r>
          </a:p>
        </p:txBody>
      </p:sp>
      <p:sp>
        <p:nvSpPr>
          <p:cNvPr id="4" name="Content Placeholder 3">
            <a:extLst>
              <a:ext uri="{FF2B5EF4-FFF2-40B4-BE49-F238E27FC236}">
                <a16:creationId xmlns:a16="http://schemas.microsoft.com/office/drawing/2014/main" id="{80AADAC0-7C52-1AA2-ED05-3227D8D3894F}"/>
              </a:ext>
            </a:extLst>
          </p:cNvPr>
          <p:cNvSpPr>
            <a:spLocks noGrp="1"/>
          </p:cNvSpPr>
          <p:nvPr>
            <p:ph idx="1"/>
          </p:nvPr>
        </p:nvSpPr>
        <p:spPr/>
        <p:txBody>
          <a:bodyPr/>
          <a:lstStyle/>
          <a:p>
            <a:r>
              <a:rPr lang="en-US" dirty="0"/>
              <a:t>The Find care application demonstrates all the core competencies to solve AI problems using a variety of AI techniques and tools. </a:t>
            </a:r>
          </a:p>
          <a:p>
            <a:r>
              <a:rPr lang="en-US" dirty="0"/>
              <a:t>In addition, it is the MVP for an AI application that can help consumers and healthcare professionals to find care for particular types of facilities and problems. </a:t>
            </a:r>
          </a:p>
          <a:p>
            <a:r>
              <a:rPr lang="en-US" dirty="0"/>
              <a:t>It also offers hospitals and health insurance companies a starter kit to manage their own networks of providers. </a:t>
            </a:r>
          </a:p>
        </p:txBody>
      </p:sp>
    </p:spTree>
    <p:extLst>
      <p:ext uri="{BB962C8B-B14F-4D97-AF65-F5344CB8AC3E}">
        <p14:creationId xmlns:p14="http://schemas.microsoft.com/office/powerpoint/2010/main" val="29468989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DF352C-DB89-49AD-AA7F-DE7BB4254263}"/>
              </a:ext>
            </a:extLst>
          </p:cNvPr>
          <p:cNvSpPr>
            <a:spLocks noGrp="1"/>
          </p:cNvSpPr>
          <p:nvPr>
            <p:ph type="title"/>
          </p:nvPr>
        </p:nvSpPr>
        <p:spPr>
          <a:xfrm>
            <a:off x="0" y="0"/>
            <a:ext cx="10515600" cy="647466"/>
          </a:xfrm>
        </p:spPr>
        <p:txBody>
          <a:bodyPr>
            <a:normAutofit fontScale="90000"/>
          </a:bodyPr>
          <a:lstStyle/>
          <a:p>
            <a:r>
              <a:rPr lang="en-US" dirty="0"/>
              <a:t>Web site architecture</a:t>
            </a:r>
          </a:p>
        </p:txBody>
      </p:sp>
      <p:pic>
        <p:nvPicPr>
          <p:cNvPr id="4" name="Picture 3">
            <a:extLst>
              <a:ext uri="{FF2B5EF4-FFF2-40B4-BE49-F238E27FC236}">
                <a16:creationId xmlns:a16="http://schemas.microsoft.com/office/drawing/2014/main" id="{06F52E3B-65F9-43B4-E9B7-FAB5BF116E1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06596" y="405036"/>
            <a:ext cx="5715957" cy="5483331"/>
          </a:xfrm>
          <a:prstGeom prst="rect">
            <a:avLst/>
          </a:prstGeom>
        </p:spPr>
      </p:pic>
    </p:spTree>
    <p:extLst>
      <p:ext uri="{BB962C8B-B14F-4D97-AF65-F5344CB8AC3E}">
        <p14:creationId xmlns:p14="http://schemas.microsoft.com/office/powerpoint/2010/main" val="28082604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9E7AEE-847E-4D81-753D-B49B00C505A6}"/>
              </a:ext>
            </a:extLst>
          </p:cNvPr>
          <p:cNvSpPr>
            <a:spLocks noGrp="1"/>
          </p:cNvSpPr>
          <p:nvPr>
            <p:ph type="title"/>
          </p:nvPr>
        </p:nvSpPr>
        <p:spPr/>
        <p:txBody>
          <a:bodyPr/>
          <a:lstStyle/>
          <a:p>
            <a:r>
              <a:rPr lang="en-US" dirty="0"/>
              <a:t>Frame specification 1</a:t>
            </a:r>
          </a:p>
        </p:txBody>
      </p:sp>
      <p:sp>
        <p:nvSpPr>
          <p:cNvPr id="3" name="Content Placeholder 2">
            <a:extLst>
              <a:ext uri="{FF2B5EF4-FFF2-40B4-BE49-F238E27FC236}">
                <a16:creationId xmlns:a16="http://schemas.microsoft.com/office/drawing/2014/main" id="{E0EDBC9D-B656-C0D8-8D1E-9C105F7E74B1}"/>
              </a:ext>
            </a:extLst>
          </p:cNvPr>
          <p:cNvSpPr>
            <a:spLocks noGrp="1"/>
          </p:cNvSpPr>
          <p:nvPr>
            <p:ph idx="1"/>
          </p:nvPr>
        </p:nvSpPr>
        <p:spPr/>
        <p:txBody>
          <a:bodyPr>
            <a:normAutofit fontScale="92500" lnSpcReduction="10000"/>
          </a:bodyPr>
          <a:lstStyle/>
          <a:p>
            <a:r>
              <a:rPr lang="en-US" dirty="0"/>
              <a:t>Overview</a:t>
            </a:r>
          </a:p>
          <a:p>
            <a:pPr lvl="1"/>
            <a:r>
              <a:rPr lang="en-US" dirty="0"/>
              <a:t>You received information in the prompt related to this deck about architecture of APIs that must complied with between browser and server. </a:t>
            </a:r>
          </a:p>
          <a:p>
            <a:pPr lvl="1"/>
            <a:r>
              <a:rPr lang="en-US" dirty="0"/>
              <a:t>There are two types of fames.</a:t>
            </a:r>
          </a:p>
          <a:p>
            <a:pPr lvl="2"/>
            <a:r>
              <a:rPr lang="en-US" dirty="0"/>
              <a:t>Geometric support frames</a:t>
            </a:r>
          </a:p>
          <a:p>
            <a:pPr lvl="3"/>
            <a:r>
              <a:rPr lang="en-US" dirty="0"/>
              <a:t>Frames that simply supply geometric support. They have only the functions to change their location and dimension. The location of the frames in terms of their composition of one header with three columns is fixed.</a:t>
            </a:r>
          </a:p>
          <a:p>
            <a:pPr lvl="3"/>
            <a:r>
              <a:rPr lang="en-US" dirty="0"/>
              <a:t>The list of geometric support frames from the frame map are:</a:t>
            </a:r>
          </a:p>
          <a:p>
            <a:pPr lvl="4"/>
            <a:r>
              <a:rPr lang="en-US" dirty="0"/>
              <a:t>Column 1</a:t>
            </a:r>
          </a:p>
          <a:p>
            <a:pPr lvl="4"/>
            <a:r>
              <a:rPr lang="en-US" dirty="0"/>
              <a:t>Column 2 (may be omitted for performance reasons. </a:t>
            </a:r>
          </a:p>
          <a:p>
            <a:pPr lvl="4"/>
            <a:r>
              <a:rPr lang="en-US" dirty="0"/>
              <a:t>Column 3</a:t>
            </a:r>
          </a:p>
          <a:p>
            <a:pPr lvl="3"/>
            <a:r>
              <a:rPr lang="en-US" dirty="0"/>
              <a:t>Functional frames have responsibilities and must make calls to the server. But can rely on cached data. </a:t>
            </a:r>
          </a:p>
          <a:p>
            <a:pPr lvl="3"/>
            <a:r>
              <a:rPr lang="en-US" dirty="0"/>
              <a:t>All of the functional frames are specified in the body of the specification which follows directly. </a:t>
            </a:r>
          </a:p>
          <a:p>
            <a:pPr lvl="4"/>
            <a:endParaRPr lang="en-US" dirty="0"/>
          </a:p>
        </p:txBody>
      </p:sp>
    </p:spTree>
    <p:extLst>
      <p:ext uri="{BB962C8B-B14F-4D97-AF65-F5344CB8AC3E}">
        <p14:creationId xmlns:p14="http://schemas.microsoft.com/office/powerpoint/2010/main" val="15818431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11DA5-7BCB-F0A9-1F8D-704F6E2127B6}"/>
              </a:ext>
            </a:extLst>
          </p:cNvPr>
          <p:cNvSpPr>
            <a:spLocks noGrp="1"/>
          </p:cNvSpPr>
          <p:nvPr>
            <p:ph type="title"/>
          </p:nvPr>
        </p:nvSpPr>
        <p:spPr/>
        <p:txBody>
          <a:bodyPr/>
          <a:lstStyle/>
          <a:p>
            <a:r>
              <a:rPr lang="en-US" dirty="0"/>
              <a:t>Frame specification 2</a:t>
            </a:r>
          </a:p>
        </p:txBody>
      </p:sp>
      <p:sp>
        <p:nvSpPr>
          <p:cNvPr id="3" name="Content Placeholder 2">
            <a:extLst>
              <a:ext uri="{FF2B5EF4-FFF2-40B4-BE49-F238E27FC236}">
                <a16:creationId xmlns:a16="http://schemas.microsoft.com/office/drawing/2014/main" id="{3962F96B-F217-4FE3-A39A-5FBFC41A1BDC}"/>
              </a:ext>
            </a:extLst>
          </p:cNvPr>
          <p:cNvSpPr>
            <a:spLocks noGrp="1"/>
          </p:cNvSpPr>
          <p:nvPr>
            <p:ph idx="1"/>
          </p:nvPr>
        </p:nvSpPr>
        <p:spPr/>
        <p:txBody>
          <a:bodyPr>
            <a:normAutofit/>
          </a:bodyPr>
          <a:lstStyle/>
          <a:p>
            <a:r>
              <a:rPr lang="en-US" dirty="0"/>
              <a:t>Header frame: </a:t>
            </a:r>
          </a:p>
          <a:p>
            <a:pPr lvl="1"/>
            <a:r>
              <a:rPr lang="en-US" dirty="0"/>
              <a:t>Location at top of app</a:t>
            </a:r>
          </a:p>
          <a:p>
            <a:pPr lvl="1"/>
            <a:r>
              <a:rPr lang="en-US" dirty="0"/>
              <a:t>Has a logo. The current one on slide 4 is perfect. </a:t>
            </a:r>
          </a:p>
          <a:p>
            <a:pPr lvl="1"/>
            <a:r>
              <a:rPr lang="en-US" dirty="0"/>
              <a:t>Has four links all resolving in a call via the </a:t>
            </a:r>
            <a:r>
              <a:rPr lang="en-US" dirty="0" err="1"/>
              <a:t>headerFrameAPI</a:t>
            </a:r>
            <a:r>
              <a:rPr lang="en-US" dirty="0"/>
              <a:t> to a link resolving service on the server. They are evenly spaced out in the frame page with the logo. They are small and austere in presentation. </a:t>
            </a:r>
          </a:p>
          <a:p>
            <a:pPr lvl="2"/>
            <a:r>
              <a:rPr lang="en-US" dirty="0"/>
              <a:t>Secret Sause</a:t>
            </a:r>
          </a:p>
          <a:p>
            <a:pPr lvl="3"/>
            <a:r>
              <a:rPr lang="en-US" dirty="0"/>
              <a:t>Mouse over: Tools and processes used to fuel this AI application. (full disclosure)</a:t>
            </a:r>
          </a:p>
          <a:p>
            <a:pPr lvl="3"/>
            <a:r>
              <a:rPr lang="en-US" dirty="0"/>
              <a:t>Behavior Go to a secret soft page served by the server. </a:t>
            </a:r>
          </a:p>
          <a:p>
            <a:pPr lvl="2"/>
            <a:r>
              <a:rPr lang="en-US" dirty="0"/>
              <a:t>About: </a:t>
            </a:r>
          </a:p>
          <a:p>
            <a:pPr lvl="3"/>
            <a:r>
              <a:rPr lang="en-US" dirty="0"/>
              <a:t>Mouse over, about ‘go to the about Find Care page.</a:t>
            </a:r>
          </a:p>
          <a:p>
            <a:pPr lvl="3"/>
            <a:r>
              <a:rPr lang="en-US" dirty="0"/>
              <a:t>Behavior: go to a ‘about find care page on the server. </a:t>
            </a:r>
          </a:p>
          <a:p>
            <a:pPr lvl="3"/>
            <a:endParaRPr lang="en-US" dirty="0"/>
          </a:p>
          <a:p>
            <a:pPr lvl="3"/>
            <a:endParaRPr lang="en-US" dirty="0"/>
          </a:p>
          <a:p>
            <a:pPr lvl="3"/>
            <a:endParaRPr lang="en-US" dirty="0"/>
          </a:p>
          <a:p>
            <a:pPr lvl="1"/>
            <a:endParaRPr lang="en-US" dirty="0"/>
          </a:p>
        </p:txBody>
      </p:sp>
    </p:spTree>
    <p:extLst>
      <p:ext uri="{BB962C8B-B14F-4D97-AF65-F5344CB8AC3E}">
        <p14:creationId xmlns:p14="http://schemas.microsoft.com/office/powerpoint/2010/main" val="16897503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F35EF8-0D58-C06A-0FB6-7D93AC76496B}"/>
              </a:ext>
            </a:extLst>
          </p:cNvPr>
          <p:cNvSpPr>
            <a:spLocks noGrp="1"/>
          </p:cNvSpPr>
          <p:nvPr>
            <p:ph type="title"/>
          </p:nvPr>
        </p:nvSpPr>
        <p:spPr/>
        <p:txBody>
          <a:bodyPr/>
          <a:lstStyle/>
          <a:p>
            <a:r>
              <a:rPr lang="en-US" dirty="0"/>
              <a:t>Frame Specification 3</a:t>
            </a:r>
          </a:p>
        </p:txBody>
      </p:sp>
      <p:sp>
        <p:nvSpPr>
          <p:cNvPr id="3" name="Content Placeholder 2">
            <a:extLst>
              <a:ext uri="{FF2B5EF4-FFF2-40B4-BE49-F238E27FC236}">
                <a16:creationId xmlns:a16="http://schemas.microsoft.com/office/drawing/2014/main" id="{0FD6BC91-38DD-8D2F-371F-61A0A63298CA}"/>
              </a:ext>
            </a:extLst>
          </p:cNvPr>
          <p:cNvSpPr>
            <a:spLocks noGrp="1"/>
          </p:cNvSpPr>
          <p:nvPr>
            <p:ph idx="1"/>
          </p:nvPr>
        </p:nvSpPr>
        <p:spPr/>
        <p:txBody>
          <a:bodyPr>
            <a:normAutofit/>
          </a:bodyPr>
          <a:lstStyle/>
          <a:p>
            <a:pPr lvl="2"/>
            <a:r>
              <a:rPr lang="en-US" dirty="0"/>
              <a:t>Contact Find Care</a:t>
            </a:r>
          </a:p>
          <a:p>
            <a:pPr lvl="3"/>
            <a:r>
              <a:rPr lang="en-US" dirty="0"/>
              <a:t>Mouse over: ‘Contact Skip Snow (From variable) from Find Care</a:t>
            </a:r>
          </a:p>
          <a:p>
            <a:pPr lvl="3"/>
            <a:r>
              <a:rPr lang="en-US" dirty="0"/>
              <a:t>Behavior: Creates a pop up with the default mail client of the user (Title is populated by the server prior to popping up the mail client). If there is no access to such a pop up it pops up the contact email and gives instructions to contact that user. This message is also a variable to be populated by the server. the value coming from the server. Current value is Contact skip Snow, the application’s architect, and implementer,  </a:t>
            </a:r>
            <a:r>
              <a:rPr lang="en-US" dirty="0">
                <a:hlinkClick r:id="rId2"/>
              </a:rPr>
              <a:t>skip.snow@gmail.com</a:t>
            </a:r>
            <a:r>
              <a:rPr lang="en-US" dirty="0"/>
              <a:t>. </a:t>
            </a:r>
          </a:p>
          <a:p>
            <a:pPr lvl="2"/>
            <a:r>
              <a:rPr lang="en-US" dirty="0"/>
              <a:t>Privacy policy </a:t>
            </a:r>
          </a:p>
          <a:p>
            <a:pPr lvl="3"/>
            <a:r>
              <a:rPr lang="en-US" dirty="0"/>
              <a:t>Mouse over: Get Find Care’s Privacy Policy</a:t>
            </a:r>
          </a:p>
          <a:p>
            <a:pPr lvl="3"/>
            <a:r>
              <a:rPr lang="en-US" dirty="0"/>
              <a:t>Behavior: Go to privacy Policy page. </a:t>
            </a:r>
          </a:p>
          <a:p>
            <a:endParaRPr lang="en-US" dirty="0"/>
          </a:p>
          <a:p>
            <a:pPr marL="914400" lvl="2" indent="0">
              <a:buNone/>
            </a:pPr>
            <a:endParaRPr lang="en-US" dirty="0"/>
          </a:p>
        </p:txBody>
      </p:sp>
    </p:spTree>
    <p:extLst>
      <p:ext uri="{BB962C8B-B14F-4D97-AF65-F5344CB8AC3E}">
        <p14:creationId xmlns:p14="http://schemas.microsoft.com/office/powerpoint/2010/main" val="38141872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1B5C761-40AB-0C3E-E6E6-359D29D6110F}"/>
              </a:ext>
            </a:extLst>
          </p:cNvPr>
          <p:cNvSpPr>
            <a:spLocks noGrp="1"/>
          </p:cNvSpPr>
          <p:nvPr>
            <p:ph idx="1"/>
          </p:nvPr>
        </p:nvSpPr>
        <p:spPr>
          <a:xfrm>
            <a:off x="737992" y="1253331"/>
            <a:ext cx="10515600" cy="4351338"/>
          </a:xfrm>
        </p:spPr>
        <p:txBody>
          <a:bodyPr>
            <a:normAutofit fontScale="92500" lnSpcReduction="20000"/>
          </a:bodyPr>
          <a:lstStyle/>
          <a:p>
            <a:pPr lvl="1"/>
            <a:r>
              <a:rPr lang="en-US" dirty="0"/>
              <a:t>Botton manager</a:t>
            </a:r>
          </a:p>
          <a:p>
            <a:pPr lvl="2"/>
            <a:r>
              <a:rPr lang="en-US" dirty="0"/>
              <a:t>Button style, raised, and change color when clicking and to another color when waiting on an HTTPS response.</a:t>
            </a:r>
          </a:p>
          <a:p>
            <a:pPr lvl="2"/>
            <a:r>
              <a:rPr lang="en-US" dirty="0"/>
              <a:t>Buttons:</a:t>
            </a:r>
          </a:p>
          <a:p>
            <a:pPr lvl="3"/>
            <a:r>
              <a:rPr lang="en-US" dirty="0"/>
              <a:t>Insurance portal</a:t>
            </a:r>
          </a:p>
          <a:p>
            <a:pPr lvl="4"/>
            <a:r>
              <a:rPr lang="en-US" dirty="0"/>
              <a:t>Mouse over ‘Get context from your insurance portal’</a:t>
            </a:r>
          </a:p>
          <a:p>
            <a:pPr lvl="4"/>
            <a:r>
              <a:rPr lang="en-US" dirty="0"/>
              <a:t>Behavior: get’s a window to pop up from the server window asks user to sign off on agreement to get but not retain their identified health data and asks them to fill in the login credentials and URL of their EMR (name of it if it is an app) the submission of the form on this window will be an API of the client and server. Control of the flow must return to the Button manager for all interactions.  The server will, if possible log into the portal and get data. In this version only Kaiser’s portal, and UCLA’s portal and Anthem’s portal will be supported, and only if user accounts are set up in these interlaces, and if they support FIHR. Non identified data will be retained. </a:t>
            </a:r>
          </a:p>
          <a:p>
            <a:pPr lvl="3"/>
            <a:r>
              <a:rPr lang="en-US" dirty="0"/>
              <a:t>EMR Button: </a:t>
            </a:r>
          </a:p>
          <a:p>
            <a:pPr lvl="4"/>
            <a:r>
              <a:rPr lang="en-US" dirty="0"/>
              <a:t>Mouse over: ‘Get history, meds, diagnosis etc. to supply context. </a:t>
            </a:r>
          </a:p>
          <a:p>
            <a:pPr lvl="4"/>
            <a:r>
              <a:rPr lang="en-US" dirty="0"/>
              <a:t>Behavior is the same as above but will go to an EMR handler . Only Epic is to be supported in V1.</a:t>
            </a:r>
          </a:p>
          <a:p>
            <a:pPr marL="1371600" lvl="3" indent="0">
              <a:buNone/>
            </a:pPr>
            <a:endParaRPr lang="en-US" dirty="0"/>
          </a:p>
          <a:p>
            <a:pPr lvl="3"/>
            <a:endParaRPr lang="en-US" dirty="0"/>
          </a:p>
          <a:p>
            <a:pPr lvl="3"/>
            <a:endParaRPr lang="en-US" dirty="0"/>
          </a:p>
          <a:p>
            <a:pPr lvl="3"/>
            <a:endParaRPr lang="en-US" dirty="0"/>
          </a:p>
          <a:p>
            <a:endParaRPr lang="en-US" dirty="0"/>
          </a:p>
        </p:txBody>
      </p:sp>
      <p:sp>
        <p:nvSpPr>
          <p:cNvPr id="5" name="Title 4">
            <a:extLst>
              <a:ext uri="{FF2B5EF4-FFF2-40B4-BE49-F238E27FC236}">
                <a16:creationId xmlns:a16="http://schemas.microsoft.com/office/drawing/2014/main" id="{2DB458D0-117D-A341-020E-26860BCB3A18}"/>
              </a:ext>
            </a:extLst>
          </p:cNvPr>
          <p:cNvSpPr>
            <a:spLocks noGrp="1"/>
          </p:cNvSpPr>
          <p:nvPr>
            <p:ph type="title"/>
          </p:nvPr>
        </p:nvSpPr>
        <p:spPr>
          <a:xfrm>
            <a:off x="124216" y="0"/>
            <a:ext cx="10515600" cy="1325563"/>
          </a:xfrm>
        </p:spPr>
        <p:txBody>
          <a:bodyPr/>
          <a:lstStyle/>
          <a:p>
            <a:r>
              <a:rPr lang="en-US" dirty="0"/>
              <a:t>Frame Specification 4</a:t>
            </a:r>
          </a:p>
        </p:txBody>
      </p:sp>
    </p:spTree>
    <p:extLst>
      <p:ext uri="{BB962C8B-B14F-4D97-AF65-F5344CB8AC3E}">
        <p14:creationId xmlns:p14="http://schemas.microsoft.com/office/powerpoint/2010/main" val="3120059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A6E4CB-CD7D-6C94-AC1E-718239E203EB}"/>
              </a:ext>
            </a:extLst>
          </p:cNvPr>
          <p:cNvSpPr>
            <a:spLocks noGrp="1"/>
          </p:cNvSpPr>
          <p:nvPr>
            <p:ph type="title"/>
          </p:nvPr>
        </p:nvSpPr>
        <p:spPr/>
        <p:txBody>
          <a:bodyPr/>
          <a:lstStyle/>
          <a:p>
            <a:r>
              <a:rPr lang="en-US" dirty="0"/>
              <a:t>Frame Specification 4.5</a:t>
            </a:r>
          </a:p>
        </p:txBody>
      </p:sp>
      <p:sp>
        <p:nvSpPr>
          <p:cNvPr id="3" name="Content Placeholder 2">
            <a:extLst>
              <a:ext uri="{FF2B5EF4-FFF2-40B4-BE49-F238E27FC236}">
                <a16:creationId xmlns:a16="http://schemas.microsoft.com/office/drawing/2014/main" id="{5AAC2A4A-C26B-8F1B-EA6B-DD0235B5B6D4}"/>
              </a:ext>
            </a:extLst>
          </p:cNvPr>
          <p:cNvSpPr>
            <a:spLocks noGrp="1"/>
          </p:cNvSpPr>
          <p:nvPr>
            <p:ph idx="1"/>
          </p:nvPr>
        </p:nvSpPr>
        <p:spPr>
          <a:xfrm>
            <a:off x="838200" y="1424792"/>
            <a:ext cx="10515600" cy="4351338"/>
          </a:xfrm>
        </p:spPr>
        <p:txBody>
          <a:bodyPr>
            <a:normAutofit lnSpcReduction="10000"/>
          </a:bodyPr>
          <a:lstStyle/>
          <a:p>
            <a:pPr lvl="3"/>
            <a:r>
              <a:rPr lang="en-US" dirty="0"/>
              <a:t>Session Information</a:t>
            </a:r>
          </a:p>
          <a:p>
            <a:pPr lvl="4"/>
            <a:r>
              <a:rPr lang="en-US" dirty="0"/>
              <a:t>Mouse over: ‘gain insight into the advice given and potentially on how to better optimize Find Care’s capabilities. </a:t>
            </a:r>
          </a:p>
          <a:p>
            <a:pPr lvl="4"/>
            <a:r>
              <a:rPr lang="en-US" dirty="0"/>
              <a:t>Behavior: A call to the server and a resulting PDF will be returned that the user can download via a link on their browsers. They can also copy formatted text that they could for example paste successfully into Word. </a:t>
            </a:r>
          </a:p>
          <a:p>
            <a:pPr lvl="3"/>
            <a:r>
              <a:rPr lang="en-US" dirty="0"/>
              <a:t>Choose Model. </a:t>
            </a:r>
          </a:p>
          <a:p>
            <a:pPr lvl="4"/>
            <a:r>
              <a:rPr lang="en-US" dirty="0"/>
              <a:t>The user will be able to pick from a variety of LLM models. </a:t>
            </a:r>
          </a:p>
          <a:p>
            <a:pPr lvl="5"/>
            <a:r>
              <a:rPr lang="en-US" dirty="0"/>
              <a:t>To do this for some use cases different embedding models must be utilized. Mongo can have many embedded models that the code can choose from at runtime. </a:t>
            </a:r>
          </a:p>
          <a:p>
            <a:pPr lvl="5"/>
            <a:r>
              <a:rPr lang="en-US" dirty="0"/>
              <a:t>The list of models and use cases will be presented by the server. Each model will have three data elements:</a:t>
            </a:r>
          </a:p>
          <a:p>
            <a:pPr lvl="6"/>
            <a:r>
              <a:rPr lang="en-US" dirty="0"/>
              <a:t>Model name, Description. (model name will be a look up to a user key so much be canonical)</a:t>
            </a:r>
          </a:p>
          <a:p>
            <a:pPr lvl="6"/>
            <a:r>
              <a:rPr lang="en-US" dirty="0"/>
              <a:t>Model owner e.g. </a:t>
            </a:r>
            <a:r>
              <a:rPr lang="en-US"/>
              <a:t>OpenAI etc. </a:t>
            </a:r>
            <a:endParaRPr lang="en-US" dirty="0"/>
          </a:p>
          <a:p>
            <a:pPr lvl="3"/>
            <a:endParaRPr lang="en-US" dirty="0"/>
          </a:p>
        </p:txBody>
      </p:sp>
    </p:spTree>
    <p:extLst>
      <p:ext uri="{BB962C8B-B14F-4D97-AF65-F5344CB8AC3E}">
        <p14:creationId xmlns:p14="http://schemas.microsoft.com/office/powerpoint/2010/main" val="40987397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492338-BC12-09FA-0641-DFA470E1A5B1}"/>
              </a:ext>
            </a:extLst>
          </p:cNvPr>
          <p:cNvSpPr>
            <a:spLocks noGrp="1"/>
          </p:cNvSpPr>
          <p:nvPr>
            <p:ph type="title"/>
          </p:nvPr>
        </p:nvSpPr>
        <p:spPr/>
        <p:txBody>
          <a:bodyPr/>
          <a:lstStyle/>
          <a:p>
            <a:r>
              <a:rPr lang="en-US" dirty="0"/>
              <a:t>Frame specification 5</a:t>
            </a:r>
          </a:p>
        </p:txBody>
      </p:sp>
      <p:sp>
        <p:nvSpPr>
          <p:cNvPr id="3" name="Content Placeholder 2">
            <a:extLst>
              <a:ext uri="{FF2B5EF4-FFF2-40B4-BE49-F238E27FC236}">
                <a16:creationId xmlns:a16="http://schemas.microsoft.com/office/drawing/2014/main" id="{EB173512-CF2B-0A43-FB33-5827D852AC0B}"/>
              </a:ext>
            </a:extLst>
          </p:cNvPr>
          <p:cNvSpPr>
            <a:spLocks noGrp="1"/>
          </p:cNvSpPr>
          <p:nvPr>
            <p:ph idx="1"/>
          </p:nvPr>
        </p:nvSpPr>
        <p:spPr/>
        <p:txBody>
          <a:bodyPr/>
          <a:lstStyle/>
          <a:p>
            <a:pPr lvl="2"/>
            <a:r>
              <a:rPr lang="en-US" dirty="0"/>
              <a:t>Session Summary: </a:t>
            </a:r>
          </a:p>
          <a:p>
            <a:pPr lvl="3"/>
            <a:r>
              <a:rPr lang="en-US" dirty="0"/>
              <a:t>Function:</a:t>
            </a:r>
          </a:p>
          <a:p>
            <a:pPr lvl="4"/>
            <a:r>
              <a:rPr lang="en-US" dirty="0"/>
              <a:t>This control is a display text. Every configurable amount, the server will set as a JS constant, the session context will be sent to a server service that will summarize the session’s content on behalf of Find Care. Each time this API is called the component wipes its content an presents the content rendered by the server. The content might have markup. </a:t>
            </a:r>
          </a:p>
          <a:p>
            <a:pPr lvl="3"/>
            <a:r>
              <a:rPr lang="en-US" dirty="0"/>
              <a:t>UX: </a:t>
            </a:r>
          </a:p>
          <a:p>
            <a:pPr lvl="4"/>
            <a:r>
              <a:rPr lang="en-US" dirty="0"/>
              <a:t>This content must be accessible to the user to copy via system copy modes. Also this control must present a copy icon that will copy the content of the component to the user’s clip board. If the user does this, a message of the content must be sent to the server, so this activity can be logged. </a:t>
            </a:r>
          </a:p>
          <a:p>
            <a:pPr lvl="4"/>
            <a:r>
              <a:rPr lang="en-US" dirty="0"/>
              <a:t>The control is not scalable. If all the text can not be reasonably rendered, the component must send an error to the server, and display an error message on the screen. </a:t>
            </a:r>
          </a:p>
        </p:txBody>
      </p:sp>
    </p:spTree>
    <p:extLst>
      <p:ext uri="{BB962C8B-B14F-4D97-AF65-F5344CB8AC3E}">
        <p14:creationId xmlns:p14="http://schemas.microsoft.com/office/powerpoint/2010/main" val="7114949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1B9807-369F-BA41-25E5-FC69109BF839}"/>
              </a:ext>
            </a:extLst>
          </p:cNvPr>
          <p:cNvSpPr>
            <a:spLocks noGrp="1"/>
          </p:cNvSpPr>
          <p:nvPr>
            <p:ph type="title"/>
          </p:nvPr>
        </p:nvSpPr>
        <p:spPr>
          <a:xfrm>
            <a:off x="111691" y="18255"/>
            <a:ext cx="10515600" cy="1325563"/>
          </a:xfrm>
        </p:spPr>
        <p:txBody>
          <a:bodyPr/>
          <a:lstStyle/>
          <a:p>
            <a:r>
              <a:rPr lang="en-US" dirty="0"/>
              <a:t>Frame specification 6</a:t>
            </a:r>
          </a:p>
        </p:txBody>
      </p:sp>
      <p:sp>
        <p:nvSpPr>
          <p:cNvPr id="3" name="Content Placeholder 2">
            <a:extLst>
              <a:ext uri="{FF2B5EF4-FFF2-40B4-BE49-F238E27FC236}">
                <a16:creationId xmlns:a16="http://schemas.microsoft.com/office/drawing/2014/main" id="{56352BE1-4E38-5A34-620F-A5647E4EE2FE}"/>
              </a:ext>
            </a:extLst>
          </p:cNvPr>
          <p:cNvSpPr>
            <a:spLocks noGrp="1"/>
          </p:cNvSpPr>
          <p:nvPr>
            <p:ph idx="1"/>
          </p:nvPr>
        </p:nvSpPr>
        <p:spPr>
          <a:xfrm>
            <a:off x="299581" y="898699"/>
            <a:ext cx="10515600" cy="4351338"/>
          </a:xfrm>
        </p:spPr>
        <p:txBody>
          <a:bodyPr/>
          <a:lstStyle/>
          <a:p>
            <a:r>
              <a:rPr lang="en-US" dirty="0"/>
              <a:t>Scrollable output.</a:t>
            </a:r>
          </a:p>
          <a:p>
            <a:pPr lvl="1"/>
            <a:r>
              <a:rPr lang="en-US" dirty="0"/>
              <a:t>Ideally this is the Gradio Native Scrollable output component. It must behave as such. It must have a scroll bar, and a copy icon associated with it. </a:t>
            </a:r>
          </a:p>
          <a:p>
            <a:pPr lvl="1"/>
            <a:r>
              <a:rPr lang="en-US" dirty="0"/>
              <a:t>Nice to have:</a:t>
            </a:r>
          </a:p>
          <a:p>
            <a:pPr lvl="2"/>
            <a:r>
              <a:rPr lang="en-US" dirty="0"/>
              <a:t>Each output will be color coded. With question then indented answer of different font colors. Questions (User prompts) are Green, Answers, what comes back from the Gradio server, Blue. </a:t>
            </a:r>
          </a:p>
          <a:p>
            <a:pPr lvl="2"/>
            <a:r>
              <a:rPr lang="en-US" dirty="0"/>
              <a:t>Each Q &amp; A can be copied individually. </a:t>
            </a:r>
          </a:p>
        </p:txBody>
      </p:sp>
    </p:spTree>
    <p:extLst>
      <p:ext uri="{BB962C8B-B14F-4D97-AF65-F5344CB8AC3E}">
        <p14:creationId xmlns:p14="http://schemas.microsoft.com/office/powerpoint/2010/main" val="17025236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49EA004-0BE6-DC29-D65D-8E6A4FC83430}"/>
              </a:ext>
            </a:extLst>
          </p:cNvPr>
          <p:cNvSpPr>
            <a:spLocks noGrp="1"/>
          </p:cNvSpPr>
          <p:nvPr>
            <p:ph idx="1"/>
          </p:nvPr>
        </p:nvSpPr>
        <p:spPr>
          <a:xfrm>
            <a:off x="161794" y="681036"/>
            <a:ext cx="11700353" cy="5882601"/>
          </a:xfrm>
        </p:spPr>
        <p:txBody>
          <a:bodyPr/>
          <a:lstStyle/>
          <a:p>
            <a:r>
              <a:rPr lang="en-US" dirty="0"/>
              <a:t>Graphic Content:</a:t>
            </a:r>
          </a:p>
          <a:p>
            <a:pPr lvl="1"/>
            <a:r>
              <a:rPr lang="en-US" dirty="0"/>
              <a:t>The server can produce interactive content. For example clickable maps where different parts of the map suggest a next action. The server can also serve charts, graphs etc. The images will use the user’s questions to figure out a good graphical way to present an answer. </a:t>
            </a:r>
          </a:p>
          <a:p>
            <a:pPr lvl="1"/>
            <a:r>
              <a:rPr lang="en-US" dirty="0"/>
              <a:t>Maps</a:t>
            </a:r>
          </a:p>
          <a:p>
            <a:pPr lvl="2"/>
            <a:r>
              <a:rPr lang="en-US" dirty="0"/>
              <a:t>A package will be chosen to do map rendering suggest one If you want in the interface catalogue.</a:t>
            </a:r>
          </a:p>
          <a:p>
            <a:pPr lvl="1"/>
            <a:r>
              <a:rPr lang="en-US" dirty="0"/>
              <a:t>This might be via a scrollable table as well. </a:t>
            </a:r>
          </a:p>
          <a:p>
            <a:pPr lvl="2"/>
            <a:r>
              <a:rPr lang="en-US" dirty="0"/>
              <a:t>In tables, the JS must allow the user normal cell capabilities. For  now just editing allowed cells in the table.</a:t>
            </a:r>
          </a:p>
          <a:p>
            <a:pPr lvl="1"/>
            <a:r>
              <a:rPr lang="en-US" dirty="0"/>
              <a:t>Bar charts</a:t>
            </a:r>
          </a:p>
          <a:p>
            <a:pPr lvl="2"/>
            <a:r>
              <a:rPr lang="en-US" dirty="0"/>
              <a:t>Drillable bar charts might be rendered by the server. This means graphic images, with associated interactive points for drilling </a:t>
            </a:r>
          </a:p>
          <a:p>
            <a:pPr lvl="3"/>
            <a:r>
              <a:rPr lang="en-US" dirty="0"/>
              <a:t>The home screen with 50 states where the user can choose a state to start to explore options is an example of this, and the one that the first screen must demonstrate.  </a:t>
            </a:r>
          </a:p>
        </p:txBody>
      </p:sp>
      <p:sp>
        <p:nvSpPr>
          <p:cNvPr id="6" name="Title 1">
            <a:extLst>
              <a:ext uri="{FF2B5EF4-FFF2-40B4-BE49-F238E27FC236}">
                <a16:creationId xmlns:a16="http://schemas.microsoft.com/office/drawing/2014/main" id="{EC4C2586-3E16-2ABC-7775-322A077F3E55}"/>
              </a:ext>
            </a:extLst>
          </p:cNvPr>
          <p:cNvSpPr txBox="1">
            <a:spLocks/>
          </p:cNvSpPr>
          <p:nvPr/>
        </p:nvSpPr>
        <p:spPr>
          <a:xfrm>
            <a:off x="0" y="0"/>
            <a:ext cx="10515600" cy="681037"/>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Frame specification 7</a:t>
            </a:r>
          </a:p>
        </p:txBody>
      </p:sp>
    </p:spTree>
    <p:extLst>
      <p:ext uri="{BB962C8B-B14F-4D97-AF65-F5344CB8AC3E}">
        <p14:creationId xmlns:p14="http://schemas.microsoft.com/office/powerpoint/2010/main" val="17957930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9F1895-B0C6-72C1-3C99-044DAEAB1BF4}"/>
              </a:ext>
            </a:extLst>
          </p:cNvPr>
          <p:cNvSpPr>
            <a:spLocks noGrp="1"/>
          </p:cNvSpPr>
          <p:nvPr>
            <p:ph type="title"/>
          </p:nvPr>
        </p:nvSpPr>
        <p:spPr>
          <a:xfrm>
            <a:off x="0" y="18255"/>
            <a:ext cx="10515600" cy="933723"/>
          </a:xfrm>
        </p:spPr>
        <p:txBody>
          <a:bodyPr/>
          <a:lstStyle/>
          <a:p>
            <a:r>
              <a:rPr lang="en-US" dirty="0"/>
              <a:t>Frame Specification 8</a:t>
            </a:r>
          </a:p>
        </p:txBody>
      </p:sp>
      <p:sp>
        <p:nvSpPr>
          <p:cNvPr id="3" name="Content Placeholder 2">
            <a:extLst>
              <a:ext uri="{FF2B5EF4-FFF2-40B4-BE49-F238E27FC236}">
                <a16:creationId xmlns:a16="http://schemas.microsoft.com/office/drawing/2014/main" id="{CC068660-FCA5-F11B-C660-66E0FD145837}"/>
              </a:ext>
            </a:extLst>
          </p:cNvPr>
          <p:cNvSpPr>
            <a:spLocks noGrp="1"/>
          </p:cNvSpPr>
          <p:nvPr>
            <p:ph idx="1"/>
          </p:nvPr>
        </p:nvSpPr>
        <p:spPr>
          <a:xfrm>
            <a:off x="87682" y="951978"/>
            <a:ext cx="12104318" cy="5887766"/>
          </a:xfrm>
        </p:spPr>
        <p:txBody>
          <a:bodyPr/>
          <a:lstStyle/>
          <a:p>
            <a:r>
              <a:rPr lang="en-US" dirty="0"/>
              <a:t>This should be a standard Gradio Prompt interfaces. Files can be uploaded and users can type prompts or past prompts in. If a user </a:t>
            </a:r>
            <a:r>
              <a:rPr lang="en-US" dirty="0" err="1"/>
              <a:t>paists</a:t>
            </a:r>
            <a:r>
              <a:rPr lang="en-US" dirty="0"/>
              <a:t> a prompt to this box, the formatting of the user’s prompt in the clipboard shall be respected.  It shall be scrollable and editable for the user. The user’s typing shall not be sent to the server until the user hits a send key</a:t>
            </a:r>
            <a:r>
              <a:rPr lang="en-US"/>
              <a:t>. </a:t>
            </a:r>
            <a:endParaRPr lang="en-US" dirty="0"/>
          </a:p>
        </p:txBody>
      </p:sp>
    </p:spTree>
    <p:extLst>
      <p:ext uri="{BB962C8B-B14F-4D97-AF65-F5344CB8AC3E}">
        <p14:creationId xmlns:p14="http://schemas.microsoft.com/office/powerpoint/2010/main" val="116440316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1439</TotalTime>
  <Words>1398</Words>
  <Application>Microsoft Office PowerPoint</Application>
  <PresentationFormat>Widescreen</PresentationFormat>
  <Paragraphs>88</Paragraphs>
  <Slides>12</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Aptos</vt:lpstr>
      <vt:lpstr>Aptos Display</vt:lpstr>
      <vt:lpstr>Arial</vt:lpstr>
      <vt:lpstr>Office Theme</vt:lpstr>
      <vt:lpstr>Find Care  Architecture</vt:lpstr>
      <vt:lpstr>Overview</vt:lpstr>
      <vt:lpstr>Web site architecture</vt:lpstr>
      <vt:lpstr>Frame specification 1</vt:lpstr>
      <vt:lpstr>Frame specification 2</vt:lpstr>
      <vt:lpstr>Frame Specification 3</vt:lpstr>
      <vt:lpstr>Frame Specification 4</vt:lpstr>
      <vt:lpstr>Frame Specification 4.5</vt:lpstr>
      <vt:lpstr>Frame specification 5</vt:lpstr>
      <vt:lpstr>Frame specification 6</vt:lpstr>
      <vt:lpstr>PowerPoint Presentation</vt:lpstr>
      <vt:lpstr>Frame Specification 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skip snow</dc:creator>
  <cp:lastModifiedBy>skip snow</cp:lastModifiedBy>
  <cp:revision>8</cp:revision>
  <dcterms:created xsi:type="dcterms:W3CDTF">2025-12-26T22:33:30Z</dcterms:created>
  <dcterms:modified xsi:type="dcterms:W3CDTF">2026-03-12T21:50:55Z</dcterms:modified>
</cp:coreProperties>
</file>