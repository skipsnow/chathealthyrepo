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9" r:id="rId4"/>
    <p:sldId id="262" r:id="rId5"/>
    <p:sldId id="266" r:id="rId6"/>
    <p:sldId id="265" r:id="rId7"/>
    <p:sldId id="260" r:id="rId8"/>
    <p:sldId id="261"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52" d="100"/>
          <a:sy n="52" d="100"/>
        </p:scale>
        <p:origin x="1222"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6E2D3-0453-3644-985D-C4CA1FF8A2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B364B5-C206-EF5E-A991-F139D9FEA6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48176B-2977-E475-BA08-7EBCCC67CB0C}"/>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5" name="Footer Placeholder 4">
            <a:extLst>
              <a:ext uri="{FF2B5EF4-FFF2-40B4-BE49-F238E27FC236}">
                <a16:creationId xmlns:a16="http://schemas.microsoft.com/office/drawing/2014/main" id="{9F46ED30-CB7F-69E9-4EF2-624FBEE60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FF379-4DA4-9138-4672-064ACEC93907}"/>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70503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AAD42-76A8-E47B-CCBF-71DF54AFA5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A9EDF4-478F-5A6F-8B47-7297A51DA0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DF5F9A-3045-F826-1BEA-96264008536E}"/>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5" name="Footer Placeholder 4">
            <a:extLst>
              <a:ext uri="{FF2B5EF4-FFF2-40B4-BE49-F238E27FC236}">
                <a16:creationId xmlns:a16="http://schemas.microsoft.com/office/drawing/2014/main" id="{51ED8A9B-5F6A-04CC-2C77-3282E591C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6D2BF3-1A63-9230-282E-1971E3094634}"/>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322229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F65A-F6ED-871A-1CE4-5F64B10F83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809FD-D25F-196D-AFA1-C92E797400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B4761-384F-51C1-5A66-9A2CB18473B1}"/>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5" name="Footer Placeholder 4">
            <a:extLst>
              <a:ext uri="{FF2B5EF4-FFF2-40B4-BE49-F238E27FC236}">
                <a16:creationId xmlns:a16="http://schemas.microsoft.com/office/drawing/2014/main" id="{7A1E72D6-136F-41D9-B9DB-FCE1910DB5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C8E086-509C-990E-9A79-8BF0577AD221}"/>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369376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3122-2CA2-6ABA-212F-581A31120D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B00954-68FB-BC81-D773-3E57F1E750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51B869-C022-7234-5B8D-10D53236F9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002FC9-79C7-2675-3333-3A9D87F6B2E0}"/>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6" name="Footer Placeholder 5">
            <a:extLst>
              <a:ext uri="{FF2B5EF4-FFF2-40B4-BE49-F238E27FC236}">
                <a16:creationId xmlns:a16="http://schemas.microsoft.com/office/drawing/2014/main" id="{D9A74CAD-02B5-61B4-8BA3-6159A9182F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3619FD-17FA-EF54-AD6B-020E70B579A3}"/>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238454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ED7C6-8C72-6134-D774-057F8FE1EB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F7260B-D3D6-80DF-3587-28D166D1A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45B344-B8F9-D0B8-0B05-94614880C4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F078A3-CAA5-263C-511A-9C8FE8F834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893323-7FA5-787C-EFF8-F34C073893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D9BCC0-1EF6-76EC-B4C0-F88C5D62D246}"/>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8" name="Footer Placeholder 7">
            <a:extLst>
              <a:ext uri="{FF2B5EF4-FFF2-40B4-BE49-F238E27FC236}">
                <a16:creationId xmlns:a16="http://schemas.microsoft.com/office/drawing/2014/main" id="{76485C53-5295-F6A0-47F8-EE044B97F4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7F06E5-1384-37F6-7DEB-2FD8EC932DAC}"/>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349720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4BB3-DDBA-00EE-6704-7942C1FC41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C4BCB7-A8BB-AEEF-02EF-7891C956486E}"/>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4" name="Footer Placeholder 3">
            <a:extLst>
              <a:ext uri="{FF2B5EF4-FFF2-40B4-BE49-F238E27FC236}">
                <a16:creationId xmlns:a16="http://schemas.microsoft.com/office/drawing/2014/main" id="{6E69BF47-AC4C-6730-8B4F-BA89F3A9F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81722D-F49D-3EE4-E0BA-00BDF74AAB1A}"/>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06292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3A7655-610E-B88C-E976-63CF89850E58}"/>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3" name="Footer Placeholder 2">
            <a:extLst>
              <a:ext uri="{FF2B5EF4-FFF2-40B4-BE49-F238E27FC236}">
                <a16:creationId xmlns:a16="http://schemas.microsoft.com/office/drawing/2014/main" id="{139728E0-54AB-81D0-9CF9-7488FFAC23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EB04B0-8E00-EB28-CCD3-F092EA0F9E91}"/>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521517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ED26-671D-272E-AA86-4D9AFB3F6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7ACB2F-9DA7-B8F4-9583-3BDA698C9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1AAF84-EBA5-EDDC-094D-F941452ADF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C823C-F555-4C57-C480-A16330103706}"/>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6" name="Footer Placeholder 5">
            <a:extLst>
              <a:ext uri="{FF2B5EF4-FFF2-40B4-BE49-F238E27FC236}">
                <a16:creationId xmlns:a16="http://schemas.microsoft.com/office/drawing/2014/main" id="{7375AF29-8732-4118-15BA-EB6819A88F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232895-F629-A770-59CB-019D0799048F}"/>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031523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5B1D-3EC5-C1D3-86D9-CBE73ABA8C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9FD50D-A2D1-D8CF-E62A-544B69DBC9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B3815A-1ECD-BF47-8AFD-676E65DEA8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22AB30-D5C6-E037-4A43-583D09111F69}"/>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6" name="Footer Placeholder 5">
            <a:extLst>
              <a:ext uri="{FF2B5EF4-FFF2-40B4-BE49-F238E27FC236}">
                <a16:creationId xmlns:a16="http://schemas.microsoft.com/office/drawing/2014/main" id="{9DE059D8-393D-9269-8F72-F4D762FD48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66C2B6-853A-5E13-792D-6FCE04307FEC}"/>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10522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EA68-9D92-5460-8CB8-877D822608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56B5ED-97FC-0B04-D739-51473EDC82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C1328-5A1F-9765-2945-33118F55BC0D}"/>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5" name="Footer Placeholder 4">
            <a:extLst>
              <a:ext uri="{FF2B5EF4-FFF2-40B4-BE49-F238E27FC236}">
                <a16:creationId xmlns:a16="http://schemas.microsoft.com/office/drawing/2014/main" id="{64B3B48D-E0D5-8690-FA67-E5F5D50B22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BA210-CBBA-DF7E-094F-E947A61EF274}"/>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678980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C6AE7-DF3B-B26B-A8C2-5FCA2B3BF6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1B61CD-9425-24B4-BADB-5488040569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A9BEB-72F1-1BFA-5986-B6A769F8C89F}"/>
              </a:ext>
            </a:extLst>
          </p:cNvPr>
          <p:cNvSpPr>
            <a:spLocks noGrp="1"/>
          </p:cNvSpPr>
          <p:nvPr>
            <p:ph type="dt" sz="half" idx="10"/>
          </p:nvPr>
        </p:nvSpPr>
        <p:spPr/>
        <p:txBody>
          <a:bodyPr/>
          <a:lstStyle/>
          <a:p>
            <a:fld id="{82B1C2C3-D437-4CB5-914C-06113AC135BA}" type="datetimeFigureOut">
              <a:rPr lang="en-US" smtClean="0"/>
              <a:t>3/12/2026</a:t>
            </a:fld>
            <a:endParaRPr lang="en-US"/>
          </a:p>
        </p:txBody>
      </p:sp>
      <p:sp>
        <p:nvSpPr>
          <p:cNvPr id="5" name="Footer Placeholder 4">
            <a:extLst>
              <a:ext uri="{FF2B5EF4-FFF2-40B4-BE49-F238E27FC236}">
                <a16:creationId xmlns:a16="http://schemas.microsoft.com/office/drawing/2014/main" id="{218C5001-B835-1714-6312-711763F94F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C472AF-1618-4117-8310-0D411A2860AE}"/>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153456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74BA9-8D09-4F55-B036-7528C4CE60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05D805-BBDF-32AA-3358-4B98B58FA6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5C215-BA26-3506-EE23-5160A452DD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B1C2C3-D437-4CB5-914C-06113AC135BA}" type="datetimeFigureOut">
              <a:rPr lang="en-US" smtClean="0"/>
              <a:t>3/12/2026</a:t>
            </a:fld>
            <a:endParaRPr lang="en-US"/>
          </a:p>
        </p:txBody>
      </p:sp>
      <p:sp>
        <p:nvSpPr>
          <p:cNvPr id="5" name="Footer Placeholder 4">
            <a:extLst>
              <a:ext uri="{FF2B5EF4-FFF2-40B4-BE49-F238E27FC236}">
                <a16:creationId xmlns:a16="http://schemas.microsoft.com/office/drawing/2014/main" id="{E86A3C0D-F5D3-8B83-7CE1-012B45638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26E66D-745C-9FAA-A9BF-2FA29E0ED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98862C-60D9-4F89-B777-7F7E7DA842C3}" type="slidenum">
              <a:rPr lang="en-US" smtClean="0"/>
              <a:t>‹#›</a:t>
            </a:fld>
            <a:endParaRPr lang="en-US"/>
          </a:p>
        </p:txBody>
      </p:sp>
    </p:spTree>
    <p:extLst>
      <p:ext uri="{BB962C8B-B14F-4D97-AF65-F5344CB8AC3E}">
        <p14:creationId xmlns:p14="http://schemas.microsoft.com/office/powerpoint/2010/main" val="2810814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mailto:skip.snow@gmail.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F493B-3D3D-0AB7-8573-E791A9E246B6}"/>
              </a:ext>
            </a:extLst>
          </p:cNvPr>
          <p:cNvSpPr>
            <a:spLocks noGrp="1"/>
          </p:cNvSpPr>
          <p:nvPr>
            <p:ph type="ctrTitle"/>
          </p:nvPr>
        </p:nvSpPr>
        <p:spPr>
          <a:xfrm>
            <a:off x="593235" y="406400"/>
            <a:ext cx="10913476" cy="2387600"/>
          </a:xfrm>
        </p:spPr>
        <p:txBody>
          <a:bodyPr/>
          <a:lstStyle/>
          <a:p>
            <a:r>
              <a:rPr lang="en-US"/>
              <a:t>Chat Healthy	</a:t>
            </a:r>
            <a:br>
              <a:rPr lang="en-US"/>
            </a:br>
            <a:r>
              <a:rPr lang="en-US" sz="3200" i="1"/>
              <a:t>A Consumer web site supporting a chat interface to finding care</a:t>
            </a:r>
            <a:br>
              <a:rPr lang="en-US"/>
            </a:br>
            <a:endParaRPr lang="en-US" sz="2800" dirty="0"/>
          </a:p>
        </p:txBody>
      </p:sp>
      <p:sp>
        <p:nvSpPr>
          <p:cNvPr id="3" name="Subtitle 2">
            <a:extLst>
              <a:ext uri="{FF2B5EF4-FFF2-40B4-BE49-F238E27FC236}">
                <a16:creationId xmlns:a16="http://schemas.microsoft.com/office/drawing/2014/main" id="{C04DD1E0-AAE0-588B-2D95-6618B63A2AD5}"/>
              </a:ext>
            </a:extLst>
          </p:cNvPr>
          <p:cNvSpPr>
            <a:spLocks noGrp="1"/>
          </p:cNvSpPr>
          <p:nvPr>
            <p:ph type="subTitle" idx="1"/>
          </p:nvPr>
        </p:nvSpPr>
        <p:spPr/>
        <p:txBody>
          <a:bodyPr/>
          <a:lstStyle/>
          <a:p>
            <a:r>
              <a:rPr lang="en-US"/>
              <a:t>https://www.chathealthy.ai</a:t>
            </a:r>
            <a:endParaRPr lang="en-US" dirty="0"/>
          </a:p>
        </p:txBody>
      </p:sp>
    </p:spTree>
    <p:extLst>
      <p:ext uri="{BB962C8B-B14F-4D97-AF65-F5344CB8AC3E}">
        <p14:creationId xmlns:p14="http://schemas.microsoft.com/office/powerpoint/2010/main" val="2545844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4603E-5B2F-898B-0A63-6AAD9C4CF6C2}"/>
              </a:ext>
            </a:extLst>
          </p:cNvPr>
          <p:cNvSpPr>
            <a:spLocks noGrp="1"/>
          </p:cNvSpPr>
          <p:nvPr>
            <p:ph type="title"/>
          </p:nvPr>
        </p:nvSpPr>
        <p:spPr/>
        <p:txBody>
          <a:bodyPr/>
          <a:lstStyle/>
          <a:p>
            <a:r>
              <a:rPr lang="en-US" dirty="0"/>
              <a:t>Overview</a:t>
            </a:r>
          </a:p>
        </p:txBody>
      </p:sp>
      <p:sp>
        <p:nvSpPr>
          <p:cNvPr id="4" name="Content Placeholder 3">
            <a:extLst>
              <a:ext uri="{FF2B5EF4-FFF2-40B4-BE49-F238E27FC236}">
                <a16:creationId xmlns:a16="http://schemas.microsoft.com/office/drawing/2014/main" id="{80AADAC0-7C52-1AA2-ED05-3227D8D3894F}"/>
              </a:ext>
            </a:extLst>
          </p:cNvPr>
          <p:cNvSpPr>
            <a:spLocks noGrp="1"/>
          </p:cNvSpPr>
          <p:nvPr>
            <p:ph idx="1"/>
          </p:nvPr>
        </p:nvSpPr>
        <p:spPr/>
        <p:txBody>
          <a:bodyPr/>
          <a:lstStyle/>
          <a:p>
            <a:r>
              <a:rPr lang="en-US" dirty="0"/>
              <a:t>The Find care application demonstrates all the core competencies to solve AI problems using a variety of AI techniques and tools. </a:t>
            </a:r>
          </a:p>
          <a:p>
            <a:r>
              <a:rPr lang="en-US" dirty="0"/>
              <a:t>In addition, it is the MVP for an AI application that can help consumers and healthcare professionals to find care for particular types of facilities and problems. </a:t>
            </a:r>
          </a:p>
          <a:p>
            <a:r>
              <a:rPr lang="en-US" dirty="0"/>
              <a:t>It also offers hospitals and health insurance companies a starter kit to manage their own networks of providers. </a:t>
            </a:r>
          </a:p>
        </p:txBody>
      </p:sp>
    </p:spTree>
    <p:extLst>
      <p:ext uri="{BB962C8B-B14F-4D97-AF65-F5344CB8AC3E}">
        <p14:creationId xmlns:p14="http://schemas.microsoft.com/office/powerpoint/2010/main" val="2946898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87721-0EA8-D9F6-8F33-FCE1615E926D}"/>
              </a:ext>
            </a:extLst>
          </p:cNvPr>
          <p:cNvSpPr>
            <a:spLocks noGrp="1"/>
          </p:cNvSpPr>
          <p:nvPr>
            <p:ph type="title"/>
          </p:nvPr>
        </p:nvSpPr>
        <p:spPr>
          <a:xfrm>
            <a:off x="149087" y="0"/>
            <a:ext cx="10515600" cy="1325563"/>
          </a:xfrm>
        </p:spPr>
        <p:txBody>
          <a:bodyPr/>
          <a:lstStyle/>
          <a:p>
            <a:r>
              <a:rPr lang="en-US" dirty="0"/>
              <a:t>Project goals</a:t>
            </a:r>
          </a:p>
        </p:txBody>
      </p:sp>
      <p:sp>
        <p:nvSpPr>
          <p:cNvPr id="3" name="Content Placeholder 2">
            <a:extLst>
              <a:ext uri="{FF2B5EF4-FFF2-40B4-BE49-F238E27FC236}">
                <a16:creationId xmlns:a16="http://schemas.microsoft.com/office/drawing/2014/main" id="{ED01B8D9-DA65-FC4E-DF50-72FE67B3F2B5}"/>
              </a:ext>
            </a:extLst>
          </p:cNvPr>
          <p:cNvSpPr>
            <a:spLocks noGrp="1"/>
          </p:cNvSpPr>
          <p:nvPr>
            <p:ph idx="1"/>
          </p:nvPr>
        </p:nvSpPr>
        <p:spPr>
          <a:xfrm>
            <a:off x="838200" y="1500369"/>
            <a:ext cx="10515600" cy="4351338"/>
          </a:xfrm>
        </p:spPr>
        <p:txBody>
          <a:bodyPr/>
          <a:lstStyle/>
          <a:p>
            <a:r>
              <a:rPr lang="en-US" dirty="0"/>
              <a:t>Create website that:</a:t>
            </a:r>
          </a:p>
          <a:p>
            <a:pPr lvl="1"/>
            <a:r>
              <a:rPr lang="en-US" dirty="0"/>
              <a:t> Allows via chat interface a user to find care.</a:t>
            </a:r>
          </a:p>
          <a:p>
            <a:pPr lvl="1"/>
            <a:r>
              <a:rPr lang="en-US" dirty="0"/>
              <a:t>Keep data fresh and accurate (phase 1 operational)</a:t>
            </a:r>
          </a:p>
          <a:p>
            <a:pPr lvl="1"/>
            <a:r>
              <a:rPr lang="en-US" dirty="0"/>
              <a:t>Allow users to ask general questions about the American health care system.</a:t>
            </a:r>
          </a:p>
          <a:p>
            <a:pPr lvl="1"/>
            <a:r>
              <a:rPr lang="en-US" dirty="0"/>
              <a:t>Do not under any circumstances give medical advise beyond what types of care to seek	 based on user input.</a:t>
            </a:r>
          </a:p>
          <a:p>
            <a:pPr lvl="1"/>
            <a:r>
              <a:rPr lang="en-US" dirty="0"/>
              <a:t>While ensuring user privacy, keep a log of user activities based on cookies and or registration. (Ensure that the HIPAA laws around ‘research data are preserved and declare in privacy statement that all user data is anonymized as per HIPAA standards. </a:t>
            </a:r>
          </a:p>
        </p:txBody>
      </p:sp>
    </p:spTree>
    <p:extLst>
      <p:ext uri="{BB962C8B-B14F-4D97-AF65-F5344CB8AC3E}">
        <p14:creationId xmlns:p14="http://schemas.microsoft.com/office/powerpoint/2010/main" val="2044576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3A8B-45CB-F213-3E39-9E312BA74D76}"/>
              </a:ext>
            </a:extLst>
          </p:cNvPr>
          <p:cNvSpPr>
            <a:spLocks noGrp="1"/>
          </p:cNvSpPr>
          <p:nvPr>
            <p:ph type="title"/>
          </p:nvPr>
        </p:nvSpPr>
        <p:spPr>
          <a:xfrm>
            <a:off x="0" y="-66708"/>
            <a:ext cx="10515600" cy="671195"/>
          </a:xfrm>
        </p:spPr>
        <p:txBody>
          <a:bodyPr>
            <a:normAutofit fontScale="90000"/>
          </a:bodyPr>
          <a:lstStyle/>
          <a:p>
            <a:r>
              <a:rPr lang="en-US" dirty="0"/>
              <a:t>Core Component architecture</a:t>
            </a:r>
          </a:p>
        </p:txBody>
      </p:sp>
      <p:sp>
        <p:nvSpPr>
          <p:cNvPr id="4" name="Rectangle 3">
            <a:extLst>
              <a:ext uri="{FF2B5EF4-FFF2-40B4-BE49-F238E27FC236}">
                <a16:creationId xmlns:a16="http://schemas.microsoft.com/office/drawing/2014/main" id="{3D6956DF-1623-F1AF-C313-CF07F5C30AB9}"/>
              </a:ext>
            </a:extLst>
          </p:cNvPr>
          <p:cNvSpPr/>
          <p:nvPr/>
        </p:nvSpPr>
        <p:spPr>
          <a:xfrm>
            <a:off x="618282" y="1109554"/>
            <a:ext cx="3419807" cy="51439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t>Azure</a:t>
            </a:r>
          </a:p>
          <a:p>
            <a:pPr algn="ctr"/>
            <a:endParaRPr lang="en-US" dirty="0"/>
          </a:p>
        </p:txBody>
      </p:sp>
      <p:sp>
        <p:nvSpPr>
          <p:cNvPr id="6" name="Rectangle 5">
            <a:extLst>
              <a:ext uri="{FF2B5EF4-FFF2-40B4-BE49-F238E27FC236}">
                <a16:creationId xmlns:a16="http://schemas.microsoft.com/office/drawing/2014/main" id="{813C53A9-0024-0F0C-B39C-E06D56DB2D47}"/>
              </a:ext>
            </a:extLst>
          </p:cNvPr>
          <p:cNvSpPr/>
          <p:nvPr/>
        </p:nvSpPr>
        <p:spPr>
          <a:xfrm>
            <a:off x="724746" y="1706879"/>
            <a:ext cx="3215151" cy="4172284"/>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rPr>
              <a:t>Subscription: </a:t>
            </a:r>
            <a:r>
              <a:rPr lang="en-US" sz="1400" dirty="0" err="1">
                <a:solidFill>
                  <a:schemeClr val="tx1"/>
                </a:solidFill>
              </a:rPr>
              <a:t>FindCare</a:t>
            </a:r>
            <a:r>
              <a:rPr lang="en-US" sz="1400" dirty="0">
                <a:solidFill>
                  <a:schemeClr val="tx1"/>
                </a:solidFill>
              </a:rPr>
              <a:t>-AI US EAST2</a:t>
            </a:r>
          </a:p>
        </p:txBody>
      </p:sp>
      <p:sp>
        <p:nvSpPr>
          <p:cNvPr id="3" name="Rectangle 2">
            <a:extLst>
              <a:ext uri="{FF2B5EF4-FFF2-40B4-BE49-F238E27FC236}">
                <a16:creationId xmlns:a16="http://schemas.microsoft.com/office/drawing/2014/main" id="{C2B25ECF-6118-ADE8-4119-369A8A3E6411}"/>
              </a:ext>
            </a:extLst>
          </p:cNvPr>
          <p:cNvSpPr/>
          <p:nvPr/>
        </p:nvSpPr>
        <p:spPr>
          <a:xfrm>
            <a:off x="4301977" y="1109554"/>
            <a:ext cx="3288792" cy="28313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t>Cloudflare</a:t>
            </a:r>
          </a:p>
          <a:p>
            <a:pPr algn="ctr"/>
            <a:r>
              <a:rPr lang="en-US" dirty="0"/>
              <a:t>wwww.chatHealthy.ai</a:t>
            </a:r>
          </a:p>
          <a:p>
            <a:pPr algn="ctr"/>
            <a:endParaRPr lang="en-US" dirty="0"/>
          </a:p>
        </p:txBody>
      </p:sp>
      <p:sp>
        <p:nvSpPr>
          <p:cNvPr id="8" name="Rectangle 7">
            <a:extLst>
              <a:ext uri="{FF2B5EF4-FFF2-40B4-BE49-F238E27FC236}">
                <a16:creationId xmlns:a16="http://schemas.microsoft.com/office/drawing/2014/main" id="{0466C92B-A5C3-84E6-80AA-0DBADA80D8C3}"/>
              </a:ext>
            </a:extLst>
          </p:cNvPr>
          <p:cNvSpPr/>
          <p:nvPr/>
        </p:nvSpPr>
        <p:spPr>
          <a:xfrm>
            <a:off x="4258426" y="4136278"/>
            <a:ext cx="3332343" cy="211723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t>Mongo</a:t>
            </a:r>
            <a:endParaRPr lang="en-US" dirty="0"/>
          </a:p>
          <a:p>
            <a:pPr algn="ctr"/>
            <a:endParaRPr lang="en-US" dirty="0"/>
          </a:p>
        </p:txBody>
      </p:sp>
      <p:sp>
        <p:nvSpPr>
          <p:cNvPr id="5" name="Rectangle 4">
            <a:extLst>
              <a:ext uri="{FF2B5EF4-FFF2-40B4-BE49-F238E27FC236}">
                <a16:creationId xmlns:a16="http://schemas.microsoft.com/office/drawing/2014/main" id="{4FB839EA-6292-36AA-C643-1371E9934750}"/>
              </a:ext>
            </a:extLst>
          </p:cNvPr>
          <p:cNvSpPr/>
          <p:nvPr/>
        </p:nvSpPr>
        <p:spPr>
          <a:xfrm>
            <a:off x="7811106" y="1109554"/>
            <a:ext cx="4033136" cy="18852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t>Hugging Face</a:t>
            </a:r>
          </a:p>
          <a:p>
            <a:pPr algn="ctr"/>
            <a:r>
              <a:rPr lang="en-US" dirty="0"/>
              <a:t>chatHealthy.ai</a:t>
            </a:r>
          </a:p>
          <a:p>
            <a:pPr algn="ctr"/>
            <a:endParaRPr lang="en-US" dirty="0"/>
          </a:p>
        </p:txBody>
      </p:sp>
      <p:sp>
        <p:nvSpPr>
          <p:cNvPr id="7" name="Rectangle 6">
            <a:extLst>
              <a:ext uri="{FF2B5EF4-FFF2-40B4-BE49-F238E27FC236}">
                <a16:creationId xmlns:a16="http://schemas.microsoft.com/office/drawing/2014/main" id="{B52B02C8-BFD3-2AEE-43C7-8E5E25B7EC4F}"/>
              </a:ext>
            </a:extLst>
          </p:cNvPr>
          <p:cNvSpPr/>
          <p:nvPr/>
        </p:nvSpPr>
        <p:spPr>
          <a:xfrm>
            <a:off x="7811106" y="3185058"/>
            <a:ext cx="4112322" cy="3068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t>Dev Ops</a:t>
            </a:r>
          </a:p>
          <a:p>
            <a:pPr algn="ctr"/>
            <a:endParaRPr lang="en-US" dirty="0"/>
          </a:p>
        </p:txBody>
      </p:sp>
      <p:sp>
        <p:nvSpPr>
          <p:cNvPr id="9" name="Rectangle 8">
            <a:extLst>
              <a:ext uri="{FF2B5EF4-FFF2-40B4-BE49-F238E27FC236}">
                <a16:creationId xmlns:a16="http://schemas.microsoft.com/office/drawing/2014/main" id="{B34CF8D7-9615-D6E5-BC07-A165752728BC}"/>
              </a:ext>
            </a:extLst>
          </p:cNvPr>
          <p:cNvSpPr/>
          <p:nvPr/>
        </p:nvSpPr>
        <p:spPr>
          <a:xfrm>
            <a:off x="945083" y="2043057"/>
            <a:ext cx="2872077" cy="209322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200" dirty="0">
                <a:solidFill>
                  <a:schemeClr val="tx1"/>
                </a:solidFill>
              </a:rPr>
              <a:t>Function App- Pay Per use</a:t>
            </a:r>
          </a:p>
          <a:p>
            <a:pPr marL="742950" lvl="1" indent="-285750">
              <a:buFont typeface="Arial" panose="020B0604020202020204" pitchFamily="34" charset="0"/>
              <a:buChar char="•"/>
            </a:pPr>
            <a:r>
              <a:rPr lang="en-US" sz="1200" dirty="0">
                <a:solidFill>
                  <a:schemeClr val="tx1"/>
                </a:solidFill>
              </a:rPr>
              <a:t>DevPipelineManagment Services</a:t>
            </a:r>
          </a:p>
          <a:p>
            <a:pPr marL="742950" lvl="1" indent="-285750">
              <a:buFont typeface="Arial" panose="020B0604020202020204" pitchFamily="34" charset="0"/>
              <a:buChar char="•"/>
            </a:pPr>
            <a:r>
              <a:rPr lang="en-US" sz="1200" dirty="0">
                <a:solidFill>
                  <a:schemeClr val="tx1"/>
                </a:solidFill>
              </a:rPr>
              <a:t>Python 12.10.2</a:t>
            </a:r>
          </a:p>
          <a:p>
            <a:pPr marL="285750" indent="-285750">
              <a:buFont typeface="Arial" panose="020B0604020202020204" pitchFamily="34" charset="0"/>
              <a:buChar char="•"/>
            </a:pPr>
            <a:r>
              <a:rPr lang="en-US" sz="1200" dirty="0">
                <a:solidFill>
                  <a:schemeClr val="tx1"/>
                </a:solidFill>
              </a:rPr>
              <a:t>Core coded in Python library: ChatHealthyLib.pipelines</a:t>
            </a:r>
          </a:p>
          <a:p>
            <a:pPr marL="285750" indent="-285750">
              <a:buFont typeface="Arial" panose="020B0604020202020204" pitchFamily="34" charset="0"/>
              <a:buChar char="•"/>
            </a:pPr>
            <a:endParaRPr lang="en-US" sz="1200" dirty="0">
              <a:solidFill>
                <a:schemeClr val="tx1"/>
              </a:solidFill>
            </a:endParaRPr>
          </a:p>
          <a:p>
            <a:pPr marL="285750" indent="-285750">
              <a:buFont typeface="Arial" panose="020B0604020202020204" pitchFamily="34" charset="0"/>
              <a:buChar char="•"/>
            </a:pPr>
            <a:endParaRPr lang="en-US" sz="1400" dirty="0"/>
          </a:p>
        </p:txBody>
      </p:sp>
      <p:sp>
        <p:nvSpPr>
          <p:cNvPr id="10" name="Rectangle 9">
            <a:extLst>
              <a:ext uri="{FF2B5EF4-FFF2-40B4-BE49-F238E27FC236}">
                <a16:creationId xmlns:a16="http://schemas.microsoft.com/office/drawing/2014/main" id="{93CADF12-0896-E739-AC56-E38C4B895E06}"/>
              </a:ext>
            </a:extLst>
          </p:cNvPr>
          <p:cNvSpPr/>
          <p:nvPr/>
        </p:nvSpPr>
        <p:spPr>
          <a:xfrm>
            <a:off x="4580962" y="1990206"/>
            <a:ext cx="2647727" cy="131759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200" dirty="0">
                <a:solidFill>
                  <a:schemeClr val="tx1"/>
                </a:solidFill>
              </a:rPr>
              <a:t>Host static Web Pages</a:t>
            </a:r>
          </a:p>
          <a:p>
            <a:pPr marL="285750" indent="-285750">
              <a:buFont typeface="Arial" panose="020B0604020202020204" pitchFamily="34" charset="0"/>
              <a:buChar char="•"/>
            </a:pPr>
            <a:r>
              <a:rPr lang="en-US" sz="1200" dirty="0">
                <a:solidFill>
                  <a:schemeClr val="tx1"/>
                </a:solidFill>
              </a:rPr>
              <a:t>DNS services</a:t>
            </a:r>
          </a:p>
          <a:p>
            <a:pPr marL="285750" indent="-285750">
              <a:buFont typeface="Arial" panose="020B0604020202020204" pitchFamily="34" charset="0"/>
              <a:buChar char="•"/>
            </a:pPr>
            <a:r>
              <a:rPr lang="en-US" sz="1200" dirty="0">
                <a:solidFill>
                  <a:schemeClr val="tx1"/>
                </a:solidFill>
              </a:rPr>
              <a:t>Page to embed </a:t>
            </a:r>
            <a:r>
              <a:rPr lang="en-US" sz="1200" dirty="0" err="1">
                <a:solidFill>
                  <a:schemeClr val="tx1"/>
                </a:solidFill>
              </a:rPr>
              <a:t>CoreChatUX</a:t>
            </a:r>
            <a:r>
              <a:rPr lang="en-US" sz="1200" dirty="0">
                <a:solidFill>
                  <a:schemeClr val="tx1"/>
                </a:solidFill>
              </a:rPr>
              <a:t> inside of </a:t>
            </a:r>
            <a:r>
              <a:rPr lang="en-US" sz="1200" dirty="0" err="1">
                <a:solidFill>
                  <a:schemeClr val="tx1"/>
                </a:solidFill>
              </a:rPr>
              <a:t>HTMLl</a:t>
            </a:r>
            <a:r>
              <a:rPr lang="en-US" sz="1200" dirty="0">
                <a:solidFill>
                  <a:schemeClr val="tx1"/>
                </a:solidFill>
              </a:rPr>
              <a:t> Page</a:t>
            </a:r>
          </a:p>
        </p:txBody>
      </p:sp>
      <p:sp>
        <p:nvSpPr>
          <p:cNvPr id="11" name="Rectangle 10">
            <a:extLst>
              <a:ext uri="{FF2B5EF4-FFF2-40B4-BE49-F238E27FC236}">
                <a16:creationId xmlns:a16="http://schemas.microsoft.com/office/drawing/2014/main" id="{3C160D1D-9642-343D-FF25-28E07B3C1D3F}"/>
              </a:ext>
            </a:extLst>
          </p:cNvPr>
          <p:cNvSpPr/>
          <p:nvPr/>
        </p:nvSpPr>
        <p:spPr>
          <a:xfrm>
            <a:off x="8235211" y="1968499"/>
            <a:ext cx="2135081" cy="71603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200" dirty="0">
                <a:solidFill>
                  <a:schemeClr val="tx1"/>
                </a:solidFill>
              </a:rPr>
              <a:t>Core Chat UX </a:t>
            </a:r>
          </a:p>
          <a:p>
            <a:pPr marL="285750" indent="-285750">
              <a:buFont typeface="Arial" panose="020B0604020202020204" pitchFamily="34" charset="0"/>
              <a:buChar char="•"/>
            </a:pPr>
            <a:r>
              <a:rPr lang="en-US" sz="1200" dirty="0">
                <a:solidFill>
                  <a:schemeClr val="tx1"/>
                </a:solidFill>
              </a:rPr>
              <a:t>AI GPU </a:t>
            </a:r>
            <a:r>
              <a:rPr lang="en-US" sz="1200" dirty="0" err="1">
                <a:solidFill>
                  <a:schemeClr val="tx1"/>
                </a:solidFill>
              </a:rPr>
              <a:t>serviceds</a:t>
            </a:r>
            <a:endParaRPr lang="en-US" sz="1200" dirty="0">
              <a:solidFill>
                <a:schemeClr val="tx1"/>
              </a:solidFill>
            </a:endParaRPr>
          </a:p>
        </p:txBody>
      </p:sp>
      <p:sp>
        <p:nvSpPr>
          <p:cNvPr id="12" name="Rectangle 11">
            <a:extLst>
              <a:ext uri="{FF2B5EF4-FFF2-40B4-BE49-F238E27FC236}">
                <a16:creationId xmlns:a16="http://schemas.microsoft.com/office/drawing/2014/main" id="{7A3EDBB5-60E0-7F9C-200F-016EDA68FFE2}"/>
              </a:ext>
            </a:extLst>
          </p:cNvPr>
          <p:cNvSpPr/>
          <p:nvPr/>
        </p:nvSpPr>
        <p:spPr>
          <a:xfrm>
            <a:off x="4580962" y="4551652"/>
            <a:ext cx="2766193" cy="170186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200" dirty="0">
                <a:solidFill>
                  <a:schemeClr val="tx1"/>
                </a:solidFill>
              </a:rPr>
              <a:t>DB services, Data Bae</a:t>
            </a:r>
          </a:p>
          <a:p>
            <a:pPr marL="285750" indent="-285750">
              <a:buFont typeface="Arial" panose="020B0604020202020204" pitchFamily="34" charset="0"/>
              <a:buChar char="•"/>
            </a:pPr>
            <a:r>
              <a:rPr lang="en-US" sz="1200" dirty="0">
                <a:solidFill>
                  <a:schemeClr val="tx1"/>
                </a:solidFill>
              </a:rPr>
              <a:t>AI GPU services</a:t>
            </a:r>
          </a:p>
          <a:p>
            <a:pPr marL="285750" indent="-285750">
              <a:buFont typeface="Arial" panose="020B0604020202020204" pitchFamily="34" charset="0"/>
              <a:buChar char="•"/>
            </a:pPr>
            <a:r>
              <a:rPr lang="en-US" sz="1200" dirty="0">
                <a:solidFill>
                  <a:schemeClr val="tx1"/>
                </a:solidFill>
              </a:rPr>
              <a:t>Account: </a:t>
            </a:r>
            <a:r>
              <a:rPr lang="en-US" sz="1200" dirty="0">
                <a:solidFill>
                  <a:schemeClr val="tx1"/>
                </a:solidFill>
                <a:hlinkClick r:id="rId2"/>
              </a:rPr>
              <a:t>skip.snow@gmail.com</a:t>
            </a:r>
            <a:endParaRPr lang="en-US" sz="1200" dirty="0">
              <a:solidFill>
                <a:schemeClr val="tx1"/>
              </a:solidFill>
            </a:endParaRPr>
          </a:p>
          <a:p>
            <a:pPr marL="285750" indent="-285750">
              <a:buFont typeface="Arial" panose="020B0604020202020204" pitchFamily="34" charset="0"/>
              <a:buChar char="•"/>
            </a:pPr>
            <a:r>
              <a:rPr lang="en-US" sz="1200" dirty="0">
                <a:solidFill>
                  <a:schemeClr val="tx1"/>
                </a:solidFill>
              </a:rPr>
              <a:t>Cluster: ChatHealthyDB_dev</a:t>
            </a:r>
          </a:p>
          <a:p>
            <a:pPr marL="742950" lvl="1" indent="-285750">
              <a:buFont typeface="Arial" panose="020B0604020202020204" pitchFamily="34" charset="0"/>
              <a:buChar char="•"/>
            </a:pPr>
            <a:endParaRPr lang="en-US" sz="1200" dirty="0">
              <a:solidFill>
                <a:schemeClr val="tx1"/>
              </a:solidFill>
            </a:endParaRPr>
          </a:p>
          <a:p>
            <a:pPr marL="285750" indent="-285750">
              <a:buFont typeface="Arial" panose="020B0604020202020204" pitchFamily="34" charset="0"/>
              <a:buChar char="•"/>
            </a:pPr>
            <a:endParaRPr lang="en-US" sz="1200" dirty="0">
              <a:solidFill>
                <a:schemeClr val="tx1"/>
              </a:solidFill>
            </a:endParaRPr>
          </a:p>
        </p:txBody>
      </p:sp>
      <p:sp>
        <p:nvSpPr>
          <p:cNvPr id="13" name="Rectangle 12">
            <a:extLst>
              <a:ext uri="{FF2B5EF4-FFF2-40B4-BE49-F238E27FC236}">
                <a16:creationId xmlns:a16="http://schemas.microsoft.com/office/drawing/2014/main" id="{3532AE32-B87B-CF0F-A5DA-314BABF7888C}"/>
              </a:ext>
            </a:extLst>
          </p:cNvPr>
          <p:cNvSpPr/>
          <p:nvPr/>
        </p:nvSpPr>
        <p:spPr>
          <a:xfrm>
            <a:off x="8012357" y="3731243"/>
            <a:ext cx="3635503" cy="225878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US" sz="1200" dirty="0">
                <a:solidFill>
                  <a:schemeClr val="tx1"/>
                </a:solidFill>
              </a:rPr>
              <a:t>Git Hub</a:t>
            </a:r>
          </a:p>
          <a:p>
            <a:pPr marL="285750" indent="-285750">
              <a:buFont typeface="Arial" panose="020B0604020202020204" pitchFamily="34" charset="0"/>
              <a:buChar char="•"/>
            </a:pPr>
            <a:r>
              <a:rPr lang="en-US" sz="1200" dirty="0">
                <a:solidFill>
                  <a:schemeClr val="tx1"/>
                </a:solidFill>
              </a:rPr>
              <a:t>Account: </a:t>
            </a:r>
            <a:r>
              <a:rPr lang="en-US" sz="1200" dirty="0">
                <a:solidFill>
                  <a:schemeClr val="tx1"/>
                </a:solidFill>
                <a:hlinkClick r:id="rId2"/>
              </a:rPr>
              <a:t>skip.snow@gmail.com</a:t>
            </a:r>
            <a:endParaRPr lang="en-US" sz="1200" dirty="0">
              <a:solidFill>
                <a:schemeClr val="tx1"/>
              </a:solidFill>
            </a:endParaRPr>
          </a:p>
          <a:p>
            <a:pPr marL="285750" indent="-285750">
              <a:buFont typeface="Arial" panose="020B0604020202020204" pitchFamily="34" charset="0"/>
              <a:buChar char="•"/>
            </a:pPr>
            <a:r>
              <a:rPr lang="en-US" sz="1200" dirty="0">
                <a:solidFill>
                  <a:schemeClr val="tx1"/>
                </a:solidFill>
              </a:rPr>
              <a:t>Repos:</a:t>
            </a:r>
          </a:p>
          <a:p>
            <a:pPr marL="742950" lvl="1" indent="-285750">
              <a:buFont typeface="Arial" panose="020B0604020202020204" pitchFamily="34" charset="0"/>
              <a:buChar char="•"/>
            </a:pPr>
            <a:r>
              <a:rPr lang="en-US" sz="1200" dirty="0">
                <a:solidFill>
                  <a:schemeClr val="tx1"/>
                </a:solidFill>
              </a:rPr>
              <a:t>SkipSnow/</a:t>
            </a:r>
            <a:r>
              <a:rPr lang="en-US" sz="1200" dirty="0" err="1">
                <a:solidFill>
                  <a:schemeClr val="tx1"/>
                </a:solidFill>
              </a:rPr>
              <a:t>findCare</a:t>
            </a:r>
            <a:endParaRPr lang="en-US" sz="1200" dirty="0">
              <a:solidFill>
                <a:schemeClr val="tx1"/>
              </a:solidFill>
            </a:endParaRPr>
          </a:p>
          <a:p>
            <a:pPr marL="742950" lvl="1" indent="-285750">
              <a:buFont typeface="Arial" panose="020B0604020202020204" pitchFamily="34" charset="0"/>
              <a:buChar char="•"/>
            </a:pPr>
            <a:r>
              <a:rPr lang="en-US" sz="1200" dirty="0">
                <a:solidFill>
                  <a:schemeClr val="tx1"/>
                </a:solidFill>
              </a:rPr>
              <a:t>SkipSnow/</a:t>
            </a:r>
            <a:r>
              <a:rPr lang="en-US" sz="1200" dirty="0" err="1">
                <a:solidFill>
                  <a:schemeClr val="tx1"/>
                </a:solidFill>
              </a:rPr>
              <a:t>ChatHealthyDataPipeline</a:t>
            </a:r>
            <a:endParaRPr lang="en-US" sz="1200" dirty="0">
              <a:solidFill>
                <a:schemeClr val="tx1"/>
              </a:solidFill>
            </a:endParaRPr>
          </a:p>
          <a:p>
            <a:pPr marL="285750" indent="-285750">
              <a:buFont typeface="Arial" panose="020B0604020202020204" pitchFamily="34" charset="0"/>
              <a:buChar char="•"/>
            </a:pPr>
            <a:r>
              <a:rPr lang="en-US" sz="1200" dirty="0">
                <a:solidFill>
                  <a:schemeClr val="tx1"/>
                </a:solidFill>
              </a:rPr>
              <a:t>Dev</a:t>
            </a:r>
          </a:p>
          <a:p>
            <a:pPr marL="742950" lvl="1" indent="-285750">
              <a:buFont typeface="Arial" panose="020B0604020202020204" pitchFamily="34" charset="0"/>
              <a:buChar char="•"/>
            </a:pPr>
            <a:r>
              <a:rPr lang="en-US" sz="1200" dirty="0">
                <a:solidFill>
                  <a:schemeClr val="tx1"/>
                </a:solidFill>
              </a:rPr>
              <a:t>Cursor: deploy from cursor </a:t>
            </a:r>
          </a:p>
          <a:p>
            <a:pPr marL="1200150" lvl="2" indent="-285750">
              <a:buFont typeface="Arial" panose="020B0604020202020204" pitchFamily="34" charset="0"/>
              <a:buChar char="•"/>
            </a:pPr>
            <a:r>
              <a:rPr lang="en-US" sz="1200" dirty="0">
                <a:solidFill>
                  <a:schemeClr val="tx1"/>
                </a:solidFill>
              </a:rPr>
              <a:t>Model cursor’s native</a:t>
            </a:r>
          </a:p>
          <a:p>
            <a:pPr marL="742950" lvl="1" indent="-285750">
              <a:buFont typeface="Arial" panose="020B0604020202020204" pitchFamily="34" charset="0"/>
              <a:buChar char="•"/>
            </a:pPr>
            <a:r>
              <a:rPr lang="en-US" sz="1200" dirty="0">
                <a:solidFill>
                  <a:schemeClr val="tx1"/>
                </a:solidFill>
              </a:rPr>
              <a:t>Cluster: ChatHealthyDB_dev</a:t>
            </a:r>
          </a:p>
          <a:p>
            <a:pPr marL="742950" lvl="1" indent="-285750">
              <a:buFont typeface="Arial" panose="020B0604020202020204" pitchFamily="34" charset="0"/>
              <a:buChar char="•"/>
            </a:pPr>
            <a:r>
              <a:rPr lang="en-US" sz="1200" dirty="0">
                <a:solidFill>
                  <a:schemeClr val="tx1"/>
                </a:solidFill>
              </a:rPr>
              <a:t>Claud Projects via claude.ai</a:t>
            </a:r>
          </a:p>
          <a:p>
            <a:pPr marL="1200150" lvl="2" indent="-285750">
              <a:buFont typeface="Arial" panose="020B0604020202020204" pitchFamily="34" charset="0"/>
              <a:buChar char="•"/>
            </a:pPr>
            <a:r>
              <a:rPr lang="en-US" sz="1200" dirty="0">
                <a:solidFill>
                  <a:schemeClr val="tx1"/>
                </a:solidFill>
              </a:rPr>
              <a:t>MD file for project prompt</a:t>
            </a:r>
          </a:p>
          <a:p>
            <a:pPr marL="742950" lvl="1" indent="-285750">
              <a:buFont typeface="Arial" panose="020B0604020202020204" pitchFamily="34" charset="0"/>
              <a:buChar char="•"/>
            </a:pPr>
            <a:endParaRPr lang="en-US" sz="1200" dirty="0">
              <a:solidFill>
                <a:schemeClr val="tx1"/>
              </a:solidFill>
            </a:endParaRPr>
          </a:p>
          <a:p>
            <a:pPr marL="742950" lvl="1" indent="-285750">
              <a:buFont typeface="Arial" panose="020B0604020202020204" pitchFamily="34" charset="0"/>
              <a:buChar char="•"/>
            </a:pPr>
            <a:endParaRPr lang="en-US" sz="1200" dirty="0">
              <a:solidFill>
                <a:schemeClr val="tx1"/>
              </a:solidFill>
            </a:endParaRPr>
          </a:p>
          <a:p>
            <a:pPr marL="285750" indent="-285750">
              <a:buFont typeface="Arial" panose="020B0604020202020204" pitchFamily="34" charset="0"/>
              <a:buChar char="•"/>
            </a:pPr>
            <a:endParaRPr lang="en-US" sz="1200" dirty="0">
              <a:solidFill>
                <a:schemeClr val="tx1"/>
              </a:solidFill>
            </a:endParaRPr>
          </a:p>
        </p:txBody>
      </p:sp>
    </p:spTree>
    <p:extLst>
      <p:ext uri="{BB962C8B-B14F-4D97-AF65-F5344CB8AC3E}">
        <p14:creationId xmlns:p14="http://schemas.microsoft.com/office/powerpoint/2010/main" val="649129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0F0C2-5628-20FC-FBFA-752AAE857788}"/>
              </a:ext>
            </a:extLst>
          </p:cNvPr>
          <p:cNvSpPr>
            <a:spLocks noGrp="1"/>
          </p:cNvSpPr>
          <p:nvPr>
            <p:ph type="title"/>
          </p:nvPr>
        </p:nvSpPr>
        <p:spPr>
          <a:xfrm>
            <a:off x="0" y="40006"/>
            <a:ext cx="10515600" cy="908262"/>
          </a:xfrm>
        </p:spPr>
        <p:txBody>
          <a:bodyPr/>
          <a:lstStyle/>
          <a:p>
            <a:r>
              <a:rPr lang="en-US" dirty="0"/>
              <a:t>Web site architecture</a:t>
            </a:r>
          </a:p>
        </p:txBody>
      </p:sp>
      <p:pic>
        <p:nvPicPr>
          <p:cNvPr id="4" name="Picture 3">
            <a:extLst>
              <a:ext uri="{FF2B5EF4-FFF2-40B4-BE49-F238E27FC236}">
                <a16:creationId xmlns:a16="http://schemas.microsoft.com/office/drawing/2014/main" id="{3E4950F8-69A0-4116-2761-7F9E72010F98}"/>
              </a:ext>
            </a:extLst>
          </p:cNvPr>
          <p:cNvPicPr>
            <a:picLocks noChangeAspect="1"/>
          </p:cNvPicPr>
          <p:nvPr/>
        </p:nvPicPr>
        <p:blipFill>
          <a:blip r:embed="rId2"/>
          <a:stretch>
            <a:fillRect/>
          </a:stretch>
        </p:blipFill>
        <p:spPr>
          <a:xfrm>
            <a:off x="4748989" y="740011"/>
            <a:ext cx="7218608" cy="5879206"/>
          </a:xfrm>
          <a:prstGeom prst="rect">
            <a:avLst/>
          </a:prstGeom>
          <a:ln>
            <a:solidFill>
              <a:schemeClr val="accent1"/>
            </a:solidFill>
          </a:ln>
        </p:spPr>
      </p:pic>
      <p:sp>
        <p:nvSpPr>
          <p:cNvPr id="5" name="TextBox 4">
            <a:extLst>
              <a:ext uri="{FF2B5EF4-FFF2-40B4-BE49-F238E27FC236}">
                <a16:creationId xmlns:a16="http://schemas.microsoft.com/office/drawing/2014/main" id="{9CACBB8C-0763-C364-78C0-8D7E11D81AA1}"/>
              </a:ext>
            </a:extLst>
          </p:cNvPr>
          <p:cNvSpPr txBox="1"/>
          <p:nvPr/>
        </p:nvSpPr>
        <p:spPr>
          <a:xfrm>
            <a:off x="216747" y="1259840"/>
            <a:ext cx="4301066" cy="3693319"/>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dirty="0"/>
              <a:t>The AI logic is done via a Gradio services hosted on spaces. on Hugging Face. </a:t>
            </a:r>
          </a:p>
          <a:p>
            <a:pPr marL="285750" indent="-285750">
              <a:buFont typeface="Arial" panose="020B0604020202020204" pitchFamily="34" charset="0"/>
              <a:buChar char="•"/>
            </a:pPr>
            <a:r>
              <a:rPr lang="en-US" dirty="0"/>
              <a:t>This component is  embedded via an </a:t>
            </a:r>
            <a:r>
              <a:rPr lang="en-US" dirty="0" err="1"/>
              <a:t>Iframe</a:t>
            </a:r>
            <a:r>
              <a:rPr lang="en-US" dirty="0"/>
              <a:t> into  the home page of the site.</a:t>
            </a:r>
          </a:p>
          <a:p>
            <a:pPr marL="285750" indent="-285750">
              <a:buFont typeface="Arial" panose="020B0604020202020204" pitchFamily="34" charset="0"/>
              <a:buChar char="•"/>
            </a:pPr>
            <a:r>
              <a:rPr lang="en-US" dirty="0"/>
              <a:t>At this point one AI interface is anticipated to handle all use cases. The ‘about us will be a static page that leads to many sub pages about the chatHealthy.ai business.  Which currently is SkipSnow doing business as chatHealthy.ai.</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73186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E0819F-25E0-3DEE-FACE-DDEC598120C3}"/>
              </a:ext>
            </a:extLst>
          </p:cNvPr>
          <p:cNvPicPr>
            <a:picLocks noChangeAspect="1"/>
          </p:cNvPicPr>
          <p:nvPr/>
        </p:nvPicPr>
        <p:blipFill>
          <a:blip r:embed="rId2"/>
          <a:stretch>
            <a:fillRect/>
          </a:stretch>
        </p:blipFill>
        <p:spPr>
          <a:xfrm>
            <a:off x="626209" y="374352"/>
            <a:ext cx="8485942" cy="5099774"/>
          </a:xfrm>
          <a:prstGeom prst="rect">
            <a:avLst/>
          </a:prstGeom>
        </p:spPr>
      </p:pic>
    </p:spTree>
    <p:extLst>
      <p:ext uri="{BB962C8B-B14F-4D97-AF65-F5344CB8AC3E}">
        <p14:creationId xmlns:p14="http://schemas.microsoft.com/office/powerpoint/2010/main" val="2417474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7F60F-8368-905B-9F42-75E39B38819B}"/>
              </a:ext>
            </a:extLst>
          </p:cNvPr>
          <p:cNvSpPr>
            <a:spLocks noGrp="1"/>
          </p:cNvSpPr>
          <p:nvPr>
            <p:ph type="title"/>
          </p:nvPr>
        </p:nvSpPr>
        <p:spPr/>
        <p:txBody>
          <a:bodyPr/>
          <a:lstStyle/>
          <a:p>
            <a:r>
              <a:rPr lang="en-US" dirty="0"/>
              <a:t>Commercial application of web site</a:t>
            </a:r>
          </a:p>
        </p:txBody>
      </p:sp>
      <p:sp>
        <p:nvSpPr>
          <p:cNvPr id="3" name="Content Placeholder 2">
            <a:extLst>
              <a:ext uri="{FF2B5EF4-FFF2-40B4-BE49-F238E27FC236}">
                <a16:creationId xmlns:a16="http://schemas.microsoft.com/office/drawing/2014/main" id="{DF32CF06-6CF1-3D56-A57E-AD0B5EAE779B}"/>
              </a:ext>
            </a:extLst>
          </p:cNvPr>
          <p:cNvSpPr>
            <a:spLocks noGrp="1"/>
          </p:cNvSpPr>
          <p:nvPr>
            <p:ph idx="1"/>
          </p:nvPr>
        </p:nvSpPr>
        <p:spPr/>
        <p:txBody>
          <a:bodyPr/>
          <a:lstStyle/>
          <a:p>
            <a:r>
              <a:rPr lang="en-US" dirty="0"/>
              <a:t>As of now this is thought of as an AI portfolio piece by Skip Snow without commercial implications.</a:t>
            </a:r>
          </a:p>
        </p:txBody>
      </p:sp>
    </p:spTree>
    <p:extLst>
      <p:ext uri="{BB962C8B-B14F-4D97-AF65-F5344CB8AC3E}">
        <p14:creationId xmlns:p14="http://schemas.microsoft.com/office/powerpoint/2010/main" val="2505143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ADB60-E9B2-1519-D538-28CD02C88F06}"/>
              </a:ext>
            </a:extLst>
          </p:cNvPr>
          <p:cNvSpPr>
            <a:spLocks noGrp="1"/>
          </p:cNvSpPr>
          <p:nvPr>
            <p:ph type="title"/>
          </p:nvPr>
        </p:nvSpPr>
        <p:spPr/>
        <p:txBody>
          <a:bodyPr/>
          <a:lstStyle/>
          <a:p>
            <a:r>
              <a:rPr lang="en-US" dirty="0"/>
              <a:t>Data Pipelines</a:t>
            </a:r>
          </a:p>
        </p:txBody>
      </p:sp>
      <p:sp>
        <p:nvSpPr>
          <p:cNvPr id="3" name="Content Placeholder 2">
            <a:extLst>
              <a:ext uri="{FF2B5EF4-FFF2-40B4-BE49-F238E27FC236}">
                <a16:creationId xmlns:a16="http://schemas.microsoft.com/office/drawing/2014/main" id="{B36CE97F-0AEB-E9C9-CD62-E88A8E13296E}"/>
              </a:ext>
            </a:extLst>
          </p:cNvPr>
          <p:cNvSpPr>
            <a:spLocks noGrp="1"/>
          </p:cNvSpPr>
          <p:nvPr>
            <p:ph idx="1"/>
          </p:nvPr>
        </p:nvSpPr>
        <p:spPr/>
        <p:txBody>
          <a:bodyPr/>
          <a:lstStyle/>
          <a:p>
            <a:r>
              <a:rPr lang="en-US" dirty="0"/>
              <a:t>There are several data sources that contribute to this effort and they must be kept fresh. This means that on a schedule the data must be refreshed by the pipeline without human oversight.</a:t>
            </a:r>
          </a:p>
          <a:p>
            <a:r>
              <a:rPr lang="en-US" dirty="0"/>
              <a:t>Major data sources</a:t>
            </a:r>
          </a:p>
          <a:p>
            <a:pPr lvl="1"/>
            <a:r>
              <a:rPr lang="en-US" dirty="0"/>
              <a:t>National provider data</a:t>
            </a:r>
          </a:p>
          <a:p>
            <a:pPr lvl="2"/>
            <a:endParaRPr lang="en-US" dirty="0"/>
          </a:p>
        </p:txBody>
      </p:sp>
    </p:spTree>
    <p:extLst>
      <p:ext uri="{BB962C8B-B14F-4D97-AF65-F5344CB8AC3E}">
        <p14:creationId xmlns:p14="http://schemas.microsoft.com/office/powerpoint/2010/main" val="2213259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7E0430-9266-C61F-62F1-66ACEFBC489D}"/>
              </a:ext>
            </a:extLst>
          </p:cNvPr>
          <p:cNvSpPr>
            <a:spLocks noGrp="1"/>
          </p:cNvSpPr>
          <p:nvPr>
            <p:ph type="title"/>
          </p:nvPr>
        </p:nvSpPr>
        <p:spPr/>
        <p:txBody>
          <a:bodyPr/>
          <a:lstStyle/>
          <a:p>
            <a:r>
              <a:rPr lang="en-US" dirty="0"/>
              <a:t>Appendix</a:t>
            </a:r>
          </a:p>
        </p:txBody>
      </p:sp>
      <p:sp>
        <p:nvSpPr>
          <p:cNvPr id="5" name="Content Placeholder 4">
            <a:extLst>
              <a:ext uri="{FF2B5EF4-FFF2-40B4-BE49-F238E27FC236}">
                <a16:creationId xmlns:a16="http://schemas.microsoft.com/office/drawing/2014/main" id="{4ED5FF93-4C27-E8C8-FFF0-5BFD07E4923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97819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D0D87-F2B0-8B2D-EF2E-46095805DFAF}"/>
              </a:ext>
            </a:extLst>
          </p:cNvPr>
          <p:cNvSpPr>
            <a:spLocks noGrp="1"/>
          </p:cNvSpPr>
          <p:nvPr>
            <p:ph type="title"/>
          </p:nvPr>
        </p:nvSpPr>
        <p:spPr>
          <a:xfrm>
            <a:off x="838200" y="365126"/>
            <a:ext cx="10515600" cy="840528"/>
          </a:xfrm>
        </p:spPr>
        <p:txBody>
          <a:bodyPr/>
          <a:lstStyle/>
          <a:p>
            <a:r>
              <a:rPr lang="en-US" dirty="0"/>
              <a:t>Azure deployment Architecture</a:t>
            </a:r>
          </a:p>
        </p:txBody>
      </p:sp>
      <p:sp>
        <p:nvSpPr>
          <p:cNvPr id="3" name="Content Placeholder 2">
            <a:extLst>
              <a:ext uri="{FF2B5EF4-FFF2-40B4-BE49-F238E27FC236}">
                <a16:creationId xmlns:a16="http://schemas.microsoft.com/office/drawing/2014/main" id="{B57A65A2-2228-D79B-C01D-3264AAB9155D}"/>
              </a:ext>
            </a:extLst>
          </p:cNvPr>
          <p:cNvSpPr>
            <a:spLocks noGrp="1"/>
          </p:cNvSpPr>
          <p:nvPr>
            <p:ph idx="1"/>
          </p:nvPr>
        </p:nvSpPr>
        <p:spPr>
          <a:xfrm>
            <a:off x="458894" y="1541145"/>
            <a:ext cx="3787987" cy="4351338"/>
          </a:xfrm>
        </p:spPr>
        <p:txBody>
          <a:bodyPr>
            <a:normAutofit fontScale="32500" lnSpcReduction="20000"/>
          </a:bodyPr>
          <a:lstStyle/>
          <a:p>
            <a:r>
              <a:rPr lang="en-US"/>
              <a:t>Subscription: ChatHealthy</a:t>
            </a:r>
          </a:p>
          <a:p>
            <a:r>
              <a:rPr lang="en-US"/>
              <a:t>└── Resource Group: ChatHealthyDataPipelines</a:t>
            </a:r>
          </a:p>
          <a:p>
            <a:r>
              <a:rPr lang="en-US"/>
              <a:t>    ├── Tag: environment → dev | qa | prod</a:t>
            </a:r>
          </a:p>
          <a:p>
            <a:r>
              <a:rPr lang="en-US"/>
              <a:t>    ├── Tag: version     → 1.0.0</a:t>
            </a:r>
          </a:p>
          <a:p>
            <a:r>
              <a:rPr lang="en-US"/>
              <a:t>    │</a:t>
            </a:r>
          </a:p>
          <a:p>
            <a:r>
              <a:rPr lang="en-US"/>
              <a:t>    ├── Namespace: PipelineInfrastructure [SHARED]</a:t>
            </a:r>
          </a:p>
          <a:p>
            <a:r>
              <a:rPr lang="en-US"/>
              <a:t>    │   ├── Storage Account [SHARED]</a:t>
            </a:r>
          </a:p>
          <a:p>
            <a:r>
              <a:rPr lang="en-US"/>
              <a:t>    │   │   └── Blob Container</a:t>
            </a:r>
          </a:p>
          <a:p>
            <a:r>
              <a:rPr lang="en-US"/>
              <a:t>    │   │       └── Tag: environment → dev</a:t>
            </a:r>
          </a:p>
          <a:p>
            <a:r>
              <a:rPr lang="en-US"/>
              <a:t>    │   ├── Virtual Network / Subnet [SHARED]</a:t>
            </a:r>
          </a:p>
          <a:p>
            <a:r>
              <a:rPr lang="en-US"/>
              <a:t>    │   └── Key Vault [SHARED]</a:t>
            </a:r>
          </a:p>
          <a:p>
            <a:r>
              <a:rPr lang="en-US"/>
              <a:t>    │</a:t>
            </a:r>
          </a:p>
          <a:p>
            <a:r>
              <a:rPr lang="en-US"/>
              <a:t>    └── Namespace: ProviderDataPipelineApp</a:t>
            </a:r>
          </a:p>
          <a:p>
            <a:r>
              <a:rPr lang="en-US"/>
              <a:t>        ├── Function App: FetchAndDistributeProviderData</a:t>
            </a:r>
          </a:p>
          <a:p>
            <a:r>
              <a:rPr lang="en-US"/>
              <a:t>        │   └── Tag: environment → dev</a:t>
            </a:r>
          </a:p>
          <a:p>
            <a:r>
              <a:rPr lang="en-US"/>
              <a:t>        ├── Function App: NPDBDataToMongo</a:t>
            </a:r>
          </a:p>
          <a:p>
            <a:r>
              <a:rPr lang="en-US"/>
              <a:t>        │   └── Tag: environment → dev</a:t>
            </a:r>
          </a:p>
          <a:p>
            <a:r>
              <a:rPr lang="en-US"/>
              <a:t>        └── Storage → ref: PipelineInfrastructure</a:t>
            </a:r>
            <a:endParaRPr lang="en-US" dirty="0"/>
          </a:p>
        </p:txBody>
      </p:sp>
      <p:sp>
        <p:nvSpPr>
          <p:cNvPr id="4" name="TextBox 3">
            <a:extLst>
              <a:ext uri="{FF2B5EF4-FFF2-40B4-BE49-F238E27FC236}">
                <a16:creationId xmlns:a16="http://schemas.microsoft.com/office/drawing/2014/main" id="{D7F92A63-5EF3-52A3-0F23-0077A9ABC82E}"/>
              </a:ext>
            </a:extLst>
          </p:cNvPr>
          <p:cNvSpPr txBox="1"/>
          <p:nvPr/>
        </p:nvSpPr>
        <p:spPr>
          <a:xfrm>
            <a:off x="3578012" y="1541145"/>
            <a:ext cx="7775788"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65000"/>
                    <a:lumOff val="35000"/>
                  </a:schemeClr>
                </a:solidFill>
              </a:rPr>
              <a:t>The use of deployment facts in a predictable matter allow for a business to respond to changes to its operating model. </a:t>
            </a:r>
          </a:p>
          <a:p>
            <a:pPr marL="742950" lvl="1" indent="-285750">
              <a:buFont typeface="Arial" panose="020B0604020202020204" pitchFamily="34" charset="0"/>
              <a:buChar char="•"/>
            </a:pPr>
            <a:r>
              <a:rPr lang="en-US" sz="2400" dirty="0">
                <a:solidFill>
                  <a:schemeClr val="tx1">
                    <a:lumMod val="65000"/>
                    <a:lumOff val="35000"/>
                  </a:schemeClr>
                </a:solidFill>
              </a:rPr>
              <a:t>Resource groups can cross all boundaries but should be </a:t>
            </a:r>
            <a:r>
              <a:rPr lang="en-US" sz="2400" dirty="0" err="1">
                <a:solidFill>
                  <a:schemeClr val="tx1">
                    <a:lumMod val="65000"/>
                    <a:lumOff val="35000"/>
                  </a:schemeClr>
                </a:solidFill>
              </a:rPr>
              <a:t>maped</a:t>
            </a:r>
            <a:r>
              <a:rPr lang="en-US" sz="2400" dirty="0">
                <a:solidFill>
                  <a:schemeClr val="tx1">
                    <a:lumMod val="65000"/>
                    <a:lumOff val="35000"/>
                  </a:schemeClr>
                </a:solidFill>
              </a:rPr>
              <a:t> to an accounting and HR model. </a:t>
            </a:r>
          </a:p>
          <a:p>
            <a:pPr marL="742950" lvl="1" indent="-285750">
              <a:buFont typeface="Arial" panose="020B0604020202020204" pitchFamily="34" charset="0"/>
              <a:buChar char="•"/>
            </a:pPr>
            <a:r>
              <a:rPr lang="en-US" sz="2400" dirty="0">
                <a:solidFill>
                  <a:schemeClr val="tx1">
                    <a:lumMod val="65000"/>
                    <a:lumOff val="35000"/>
                  </a:schemeClr>
                </a:solidFill>
              </a:rPr>
              <a:t>Other resource groups to be created are and two are planed, </a:t>
            </a:r>
          </a:p>
          <a:p>
            <a:pPr marL="1200150" lvl="2" indent="-285750">
              <a:buFont typeface="Arial" panose="020B0604020202020204" pitchFamily="34" charset="0"/>
              <a:buChar char="•"/>
            </a:pPr>
            <a:r>
              <a:rPr lang="en-US" sz="2400" dirty="0">
                <a:solidFill>
                  <a:schemeClr val="tx1">
                    <a:lumMod val="65000"/>
                    <a:lumOff val="35000"/>
                  </a:schemeClr>
                </a:solidFill>
              </a:rPr>
              <a:t>Chat </a:t>
            </a:r>
            <a:r>
              <a:rPr lang="en-US" sz="2400" dirty="0" err="1">
                <a:solidFill>
                  <a:schemeClr val="tx1">
                    <a:lumMod val="65000"/>
                    <a:lumOff val="35000"/>
                  </a:schemeClr>
                </a:solidFill>
              </a:rPr>
              <a:t>HealthyTest</a:t>
            </a:r>
            <a:r>
              <a:rPr lang="en-US" sz="2400" dirty="0">
                <a:solidFill>
                  <a:schemeClr val="tx1">
                    <a:lumMod val="65000"/>
                    <a:lumOff val="35000"/>
                  </a:schemeClr>
                </a:solidFill>
              </a:rPr>
              <a:t>,  This is where the accuracy  chat Healthy's responses are tested against Boolean based criteria. And design decisions are revisited. </a:t>
            </a:r>
          </a:p>
          <a:p>
            <a:pPr marL="1200150" lvl="2" indent="-285750">
              <a:buFont typeface="Arial" panose="020B0604020202020204" pitchFamily="34" charset="0"/>
              <a:buChar char="•"/>
            </a:pPr>
            <a:r>
              <a:rPr lang="en-US" sz="2400" dirty="0">
                <a:solidFill>
                  <a:schemeClr val="tx1">
                    <a:lumMod val="65000"/>
                    <a:lumOff val="35000"/>
                  </a:schemeClr>
                </a:solidFill>
              </a:rPr>
              <a:t>Find Care Run Time application</a:t>
            </a:r>
          </a:p>
          <a:p>
            <a:pPr marL="742950" lvl="1" indent="-285750">
              <a:buFont typeface="Arial" panose="020B0604020202020204" pitchFamily="34" charset="0"/>
              <a:buChar char="•"/>
            </a:pPr>
            <a:r>
              <a:rPr lang="en-US" sz="2400" dirty="0">
                <a:solidFill>
                  <a:schemeClr val="tx1">
                    <a:lumMod val="65000"/>
                    <a:lumOff val="35000"/>
                  </a:schemeClr>
                </a:solidFill>
              </a:rPr>
              <a:t>There is only 1 azure subscription</a:t>
            </a:r>
            <a:r>
              <a:rPr lang="en-US" dirty="0">
                <a:solidFill>
                  <a:schemeClr val="tx1">
                    <a:lumMod val="65000"/>
                    <a:lumOff val="35000"/>
                  </a:schemeClr>
                </a:solidFill>
              </a:rPr>
              <a:t>. </a:t>
            </a:r>
          </a:p>
        </p:txBody>
      </p:sp>
    </p:spTree>
    <p:extLst>
      <p:ext uri="{BB962C8B-B14F-4D97-AF65-F5344CB8AC3E}">
        <p14:creationId xmlns:p14="http://schemas.microsoft.com/office/powerpoint/2010/main" val="1988505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4717</TotalTime>
  <Words>688</Words>
  <Application>Microsoft Office PowerPoint</Application>
  <PresentationFormat>Widescreen</PresentationFormat>
  <Paragraphs>83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Chat Healthy  A Consumer web site supporting a chat interface to finding care </vt:lpstr>
      <vt:lpstr>Overview</vt:lpstr>
      <vt:lpstr>Project goals</vt:lpstr>
      <vt:lpstr>Core Component architecture</vt:lpstr>
      <vt:lpstr>Web site architecture</vt:lpstr>
      <vt:lpstr>PowerPoint Presentation</vt:lpstr>
      <vt:lpstr>Commercial application of web site</vt:lpstr>
      <vt:lpstr>Data Pipelines</vt:lpstr>
      <vt:lpstr>Appendix</vt:lpstr>
      <vt:lpstr>Azure deployment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skip snow</dc:creator>
  <cp:lastModifiedBy>skip snow</cp:lastModifiedBy>
  <cp:revision>7</cp:revision>
  <dcterms:created xsi:type="dcterms:W3CDTF">2026-01-17T19:25:09Z</dcterms:created>
  <dcterms:modified xsi:type="dcterms:W3CDTF">2026-03-12T21:48:59Z</dcterms:modified>
</cp:coreProperties>
</file>