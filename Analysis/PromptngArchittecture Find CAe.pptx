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64592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3" autoAdjust="0"/>
    <p:restoredTop sz="94660"/>
  </p:normalViewPr>
  <p:slideViewPr>
    <p:cSldViewPr snapToGrid="0">
      <p:cViewPr varScale="1">
        <p:scale>
          <a:sx n="78" d="100"/>
          <a:sy n="78" d="100"/>
        </p:scale>
        <p:origin x="54" y="5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1122363"/>
            <a:ext cx="12344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3602038"/>
            <a:ext cx="123444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C62-E729-4E25-ACAB-80CCD83D0FC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515-4505-4B2E-B4C7-CEB562C14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27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C62-E729-4E25-ACAB-80CCD83D0FC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515-4505-4B2E-B4C7-CEB562C14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55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1709739"/>
            <a:ext cx="1419606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4589464"/>
            <a:ext cx="1419606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C62-E729-4E25-ACAB-80CCD83D0FC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515-4505-4B2E-B4C7-CEB562C14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1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1825625"/>
            <a:ext cx="699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1825625"/>
            <a:ext cx="699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C62-E729-4E25-ACAB-80CCD83D0FC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515-4505-4B2E-B4C7-CEB562C14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64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365126"/>
            <a:ext cx="1419606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5" y="1681163"/>
            <a:ext cx="69630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5" y="2505075"/>
            <a:ext cx="696301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0" y="1681163"/>
            <a:ext cx="699730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0" y="2505075"/>
            <a:ext cx="699730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C62-E729-4E25-ACAB-80CCD83D0FC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515-4505-4B2E-B4C7-CEB562C14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07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C62-E729-4E25-ACAB-80CCD83D0FC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515-4505-4B2E-B4C7-CEB562C14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5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C62-E729-4E25-ACAB-80CCD83D0FC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515-4505-4B2E-B4C7-CEB562C14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3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457200"/>
            <a:ext cx="53085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987426"/>
            <a:ext cx="833247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2057400"/>
            <a:ext cx="53085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C62-E729-4E25-ACAB-80CCD83D0FC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515-4505-4B2E-B4C7-CEB562C14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96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457200"/>
            <a:ext cx="53085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987426"/>
            <a:ext cx="833247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2057400"/>
            <a:ext cx="53085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C62-E729-4E25-ACAB-80CCD83D0FC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515-4505-4B2E-B4C7-CEB562C14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70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C62-E729-4E25-ACAB-80CCD83D0FC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515-4505-4B2E-B4C7-CEB562C14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3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5" y="365125"/>
            <a:ext cx="35490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0" y="365125"/>
            <a:ext cx="1044130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C62-E729-4E25-ACAB-80CCD83D0FC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515-4505-4B2E-B4C7-CEB562C14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39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365126"/>
            <a:ext cx="141960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1825625"/>
            <a:ext cx="141960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6356351"/>
            <a:ext cx="3703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8DDC62-E729-4E25-ACAB-80CCD83D0FC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6356351"/>
            <a:ext cx="5554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6356351"/>
            <a:ext cx="3703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546515-4505-4B2E-B4C7-CEB562C14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80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F7A45C-AF70-3D44-057C-4DDFA87AD774}"/>
              </a:ext>
            </a:extLst>
          </p:cNvPr>
          <p:cNvSpPr/>
          <p:nvPr/>
        </p:nvSpPr>
        <p:spPr>
          <a:xfrm>
            <a:off x="486266" y="128202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Do you need emergency Care?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B065FB-A81C-F8CE-972F-AD21A93A811B}"/>
              </a:ext>
            </a:extLst>
          </p:cNvPr>
          <p:cNvSpPr/>
          <p:nvPr/>
        </p:nvSpPr>
        <p:spPr>
          <a:xfrm>
            <a:off x="486266" y="188654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Are you asking a silly question many times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FEE70D-FAAF-E851-5B1C-517AA15E164A}"/>
              </a:ext>
            </a:extLst>
          </p:cNvPr>
          <p:cNvSpPr/>
          <p:nvPr/>
        </p:nvSpPr>
        <p:spPr>
          <a:xfrm>
            <a:off x="486266" y="240978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Do you want to speak to us?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1544FD-58FC-C567-F454-A86DC08D6177}"/>
              </a:ext>
            </a:extLst>
          </p:cNvPr>
          <p:cNvSpPr/>
          <p:nvPr/>
        </p:nvSpPr>
        <p:spPr>
          <a:xfrm>
            <a:off x="445626" y="376106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Are you asking a question we care about but can not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C41474-AA78-11F3-EC03-F27948FF6586}"/>
              </a:ext>
            </a:extLst>
          </p:cNvPr>
          <p:cNvSpPr/>
          <p:nvPr/>
        </p:nvSpPr>
        <p:spPr>
          <a:xfrm>
            <a:off x="486266" y="314130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Are you asking for clinical advise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4E3637-5543-09A7-6271-6FA68B74324E}"/>
              </a:ext>
            </a:extLst>
          </p:cNvPr>
          <p:cNvSpPr/>
          <p:nvPr/>
        </p:nvSpPr>
        <p:spPr>
          <a:xfrm>
            <a:off x="445626" y="437574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Are you asking for a care Giver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E4931F-7069-93D9-C27B-7F782B0B4B5F}"/>
              </a:ext>
            </a:extLst>
          </p:cNvPr>
          <p:cNvSpPr/>
          <p:nvPr/>
        </p:nvSpPr>
        <p:spPr>
          <a:xfrm>
            <a:off x="445626" y="495486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Are you asking for a clinical trial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E76A1F-2A87-B5B6-0AF1-C8DA18DD3FF6}"/>
              </a:ext>
            </a:extLst>
          </p:cNvPr>
          <p:cNvSpPr/>
          <p:nvPr/>
        </p:nvSpPr>
        <p:spPr>
          <a:xfrm>
            <a:off x="445626" y="557970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Are you asking for a </a:t>
            </a:r>
            <a:r>
              <a:rPr lang="en-US" sz="900" dirty="0" err="1">
                <a:solidFill>
                  <a:schemeClr val="tx1"/>
                </a:solidFill>
              </a:rPr>
              <a:t>faciltiy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61A0AD30-23C5-FDAC-643A-8F221E70499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299826" y="1495381"/>
            <a:ext cx="1066800" cy="226822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D389608-36AC-088E-57A9-3BDCDC2533B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299826" y="2099901"/>
            <a:ext cx="1066800" cy="1663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21F89DC-2FE8-6FC3-6CC3-BCD14FF0C9E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299826" y="2623141"/>
            <a:ext cx="1066800" cy="114046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9E35462-19B0-E0AB-160C-DC583AD3524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299826" y="3354661"/>
            <a:ext cx="1066800" cy="4089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C59F067-5030-0725-B413-6D96C590BA8C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259186" y="3763601"/>
            <a:ext cx="1107440" cy="21082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03D2A25-4043-88EB-3A27-7A5D0231F6A8}"/>
              </a:ext>
            </a:extLst>
          </p:cNvPr>
          <p:cNvCxnSpPr>
            <a:cxnSpLocks/>
          </p:cNvCxnSpPr>
          <p:nvPr/>
        </p:nvCxnSpPr>
        <p:spPr>
          <a:xfrm flipV="1">
            <a:off x="2320146" y="3791541"/>
            <a:ext cx="1016000" cy="79756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60409E6-A94C-34F0-858C-9CCE66A67416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259186" y="3763601"/>
            <a:ext cx="1107440" cy="140462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3497524E-107C-FE8E-D6A9-D2D1490CBCB3}"/>
              </a:ext>
            </a:extLst>
          </p:cNvPr>
          <p:cNvCxnSpPr>
            <a:cxnSpLocks/>
          </p:cNvCxnSpPr>
          <p:nvPr/>
        </p:nvCxnSpPr>
        <p:spPr>
          <a:xfrm flipV="1">
            <a:off x="2259186" y="3766141"/>
            <a:ext cx="1137920" cy="201168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ED5F788-AF7C-4344-90A0-98E6BB36A91E}"/>
              </a:ext>
            </a:extLst>
          </p:cNvPr>
          <p:cNvSpPr/>
          <p:nvPr/>
        </p:nvSpPr>
        <p:spPr>
          <a:xfrm>
            <a:off x="3887650" y="1043261"/>
            <a:ext cx="1752600" cy="995680"/>
          </a:xfrm>
          <a:prstGeom prst="rect">
            <a:avLst/>
          </a:pr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structured Input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Prompt history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User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Machine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User Context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A6D8891-9A40-3E8D-30B0-265036D2BDF1}"/>
              </a:ext>
            </a:extLst>
          </p:cNvPr>
          <p:cNvCxnSpPr>
            <a:cxnSpLocks/>
            <a:stCxn id="129" idx="0"/>
            <a:endCxn id="31" idx="2"/>
          </p:cNvCxnSpPr>
          <p:nvPr/>
        </p:nvCxnSpPr>
        <p:spPr>
          <a:xfrm flipV="1">
            <a:off x="4702342" y="2038941"/>
            <a:ext cx="61608" cy="1001442"/>
          </a:xfrm>
          <a:prstGeom prst="line">
            <a:avLst/>
          </a:prstGeom>
          <a:ln>
            <a:tailEnd type="diamond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195963A-8C83-111F-789D-CEA5162652E9}"/>
              </a:ext>
            </a:extLst>
          </p:cNvPr>
          <p:cNvSpPr/>
          <p:nvPr/>
        </p:nvSpPr>
        <p:spPr>
          <a:xfrm>
            <a:off x="3037876" y="5363395"/>
            <a:ext cx="2113280" cy="995680"/>
          </a:xfrm>
          <a:prstGeom prst="rect">
            <a:avLst/>
          </a:pr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r>
              <a:rPr lang="en-US" sz="1000" dirty="0">
                <a:solidFill>
                  <a:schemeClr val="accent4">
                    <a:lumMod val="75000"/>
                  </a:schemeClr>
                </a:solidFill>
              </a:rPr>
              <a:t>Part 1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Structured (Intermediate) </a:t>
            </a:r>
            <a:r>
              <a:rPr lang="en-US" sz="1000" dirty="0" err="1">
                <a:solidFill>
                  <a:schemeClr val="tx1"/>
                </a:solidFill>
              </a:rPr>
              <a:t>ouput</a:t>
            </a: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Structured 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Routing choice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`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12B3129-BECB-D337-ABF1-2FC0566CEB1A}"/>
              </a:ext>
            </a:extLst>
          </p:cNvPr>
          <p:cNvCxnSpPr>
            <a:cxnSpLocks/>
            <a:stCxn id="129" idx="2"/>
            <a:endCxn id="34" idx="0"/>
          </p:cNvCxnSpPr>
          <p:nvPr/>
        </p:nvCxnSpPr>
        <p:spPr>
          <a:xfrm>
            <a:off x="3862233" y="4866809"/>
            <a:ext cx="232283" cy="4965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3CA9421-E493-DC94-DB7E-3D812878D470}"/>
              </a:ext>
            </a:extLst>
          </p:cNvPr>
          <p:cNvCxnSpPr>
            <a:cxnSpLocks/>
            <a:stCxn id="34" idx="3"/>
            <a:endCxn id="49" idx="1"/>
          </p:cNvCxnSpPr>
          <p:nvPr/>
        </p:nvCxnSpPr>
        <p:spPr>
          <a:xfrm>
            <a:off x="5151156" y="5861235"/>
            <a:ext cx="709359" cy="7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20DF458-45A8-038C-00DD-65C1E743453A}"/>
              </a:ext>
            </a:extLst>
          </p:cNvPr>
          <p:cNvSpPr/>
          <p:nvPr/>
        </p:nvSpPr>
        <p:spPr>
          <a:xfrm>
            <a:off x="5960383" y="4184389"/>
            <a:ext cx="1173480" cy="393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Deterministic Rules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6CECDB63-A276-530F-DF5A-78D39F148754}"/>
              </a:ext>
            </a:extLst>
          </p:cNvPr>
          <p:cNvCxnSpPr>
            <a:cxnSpLocks/>
            <a:stCxn id="42" idx="2"/>
            <a:endCxn id="129" idx="4"/>
          </p:cNvCxnSpPr>
          <p:nvPr/>
        </p:nvCxnSpPr>
        <p:spPr>
          <a:xfrm rot="5400000">
            <a:off x="5900427" y="4220113"/>
            <a:ext cx="288720" cy="1004673"/>
          </a:xfrm>
          <a:prstGeom prst="bentConnector3">
            <a:avLst>
              <a:gd name="adj1" fmla="val 1791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5DA7A509-1F64-D4E5-B528-E03E07AF803F}"/>
              </a:ext>
            </a:extLst>
          </p:cNvPr>
          <p:cNvSpPr/>
          <p:nvPr/>
        </p:nvSpPr>
        <p:spPr>
          <a:xfrm>
            <a:off x="5860515" y="5671406"/>
            <a:ext cx="1173480" cy="393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AI Routes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03F5ADC-0258-7D40-1849-4E817C8F8D76}"/>
              </a:ext>
            </a:extLst>
          </p:cNvPr>
          <p:cNvSpPr/>
          <p:nvPr/>
        </p:nvSpPr>
        <p:spPr>
          <a:xfrm>
            <a:off x="7991284" y="143442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need emergency Care?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6EF4798-0742-9E96-A443-AB614EB47792}"/>
              </a:ext>
            </a:extLst>
          </p:cNvPr>
          <p:cNvSpPr/>
          <p:nvPr/>
        </p:nvSpPr>
        <p:spPr>
          <a:xfrm>
            <a:off x="7991284" y="203894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asking a silly question many times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09E0A31-F35C-BF57-C309-AA6B4BEA4DD9}"/>
              </a:ext>
            </a:extLst>
          </p:cNvPr>
          <p:cNvSpPr/>
          <p:nvPr/>
        </p:nvSpPr>
        <p:spPr>
          <a:xfrm>
            <a:off x="7991284" y="256218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wants to speak to us?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7711376-9EBC-A05F-95F9-19165B276CFA}"/>
              </a:ext>
            </a:extLst>
          </p:cNvPr>
          <p:cNvSpPr/>
          <p:nvPr/>
        </p:nvSpPr>
        <p:spPr>
          <a:xfrm>
            <a:off x="7950644" y="391346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Are you asks a question we </a:t>
            </a:r>
            <a:r>
              <a:rPr lang="en-US" sz="900" dirty="0" err="1">
                <a:solidFill>
                  <a:schemeClr val="tx1"/>
                </a:solidFill>
              </a:rPr>
              <a:t>crare</a:t>
            </a:r>
            <a:r>
              <a:rPr lang="en-US" sz="900" dirty="0">
                <a:solidFill>
                  <a:schemeClr val="tx1"/>
                </a:solidFill>
              </a:rPr>
              <a:t> about but can not answer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525A89D-4DC9-C8DF-5453-85A66464A9E0}"/>
              </a:ext>
            </a:extLst>
          </p:cNvPr>
          <p:cNvSpPr/>
          <p:nvPr/>
        </p:nvSpPr>
        <p:spPr>
          <a:xfrm>
            <a:off x="7991284" y="329370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Asking for clinical advise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2B78320-D077-A436-BCF8-0F68D96693D4}"/>
              </a:ext>
            </a:extLst>
          </p:cNvPr>
          <p:cNvSpPr/>
          <p:nvPr/>
        </p:nvSpPr>
        <p:spPr>
          <a:xfrm>
            <a:off x="7950644" y="452814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asks for care giver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750CEA5-FC08-50F7-E7AA-8D06CB9476F6}"/>
              </a:ext>
            </a:extLst>
          </p:cNvPr>
          <p:cNvSpPr/>
          <p:nvPr/>
        </p:nvSpPr>
        <p:spPr>
          <a:xfrm>
            <a:off x="7950644" y="510726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asks for a clinical trial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9542350-3075-BC00-A113-EC3678D610F6}"/>
              </a:ext>
            </a:extLst>
          </p:cNvPr>
          <p:cNvSpPr/>
          <p:nvPr/>
        </p:nvSpPr>
        <p:spPr>
          <a:xfrm>
            <a:off x="7950644" y="5732101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asks for a facility</a:t>
            </a: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C9963B16-8933-D3AA-4A2C-B7666E148749}"/>
              </a:ext>
            </a:extLst>
          </p:cNvPr>
          <p:cNvCxnSpPr>
            <a:cxnSpLocks/>
            <a:stCxn id="52" idx="3"/>
            <a:endCxn id="91" idx="1"/>
          </p:cNvCxnSpPr>
          <p:nvPr/>
        </p:nvCxnSpPr>
        <p:spPr>
          <a:xfrm flipV="1">
            <a:off x="9804844" y="1158609"/>
            <a:ext cx="2232984" cy="48917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74EB2B32-091A-F4DF-FBF8-289379950C63}"/>
              </a:ext>
            </a:extLst>
          </p:cNvPr>
          <p:cNvCxnSpPr>
            <a:cxnSpLocks/>
            <a:stCxn id="53" idx="3"/>
            <a:endCxn id="91" idx="1"/>
          </p:cNvCxnSpPr>
          <p:nvPr/>
        </p:nvCxnSpPr>
        <p:spPr>
          <a:xfrm flipV="1">
            <a:off x="9804844" y="1158609"/>
            <a:ext cx="2232984" cy="10936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80658CF2-61AB-BD18-4340-2298FD317686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9804844" y="1158609"/>
            <a:ext cx="2120644" cy="16169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E78A95EC-C0DB-CEB7-290D-21F0776A74C6}"/>
              </a:ext>
            </a:extLst>
          </p:cNvPr>
          <p:cNvSpPr/>
          <p:nvPr/>
        </p:nvSpPr>
        <p:spPr>
          <a:xfrm>
            <a:off x="12037828" y="961759"/>
            <a:ext cx="1173480" cy="393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One tool responds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With branches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D86BE16-E6F2-E586-DAC1-19C9DEFF0C23}"/>
              </a:ext>
            </a:extLst>
          </p:cNvPr>
          <p:cNvSpPr/>
          <p:nvPr/>
        </p:nvSpPr>
        <p:spPr>
          <a:xfrm>
            <a:off x="10360405" y="4910503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AI triages, potentially iterates with interview</a:t>
            </a:r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8AF61AB9-7580-C8F5-84AE-4BE43298DB4D}"/>
              </a:ext>
            </a:extLst>
          </p:cNvPr>
          <p:cNvCxnSpPr>
            <a:cxnSpLocks/>
            <a:stCxn id="56" idx="3"/>
            <a:endCxn id="91" idx="1"/>
          </p:cNvCxnSpPr>
          <p:nvPr/>
        </p:nvCxnSpPr>
        <p:spPr>
          <a:xfrm flipV="1">
            <a:off x="9804844" y="1158609"/>
            <a:ext cx="2232984" cy="23484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403CA784-DD7F-0570-DA53-36578EEE12AB}"/>
              </a:ext>
            </a:extLst>
          </p:cNvPr>
          <p:cNvCxnSpPr>
            <a:cxnSpLocks/>
            <a:stCxn id="55" idx="3"/>
            <a:endCxn id="91" idx="1"/>
          </p:cNvCxnSpPr>
          <p:nvPr/>
        </p:nvCxnSpPr>
        <p:spPr>
          <a:xfrm flipV="1">
            <a:off x="9764204" y="1158609"/>
            <a:ext cx="2273624" cy="29682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F7A1A893-8299-1660-B76B-0D9C68F7E179}"/>
              </a:ext>
            </a:extLst>
          </p:cNvPr>
          <p:cNvCxnSpPr>
            <a:stCxn id="57" idx="3"/>
            <a:endCxn id="94" idx="1"/>
          </p:cNvCxnSpPr>
          <p:nvPr/>
        </p:nvCxnSpPr>
        <p:spPr>
          <a:xfrm>
            <a:off x="9764204" y="4741501"/>
            <a:ext cx="596201" cy="38236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285A7A40-B323-4CA7-5B3F-7B2FDB35B59C}"/>
              </a:ext>
            </a:extLst>
          </p:cNvPr>
          <p:cNvCxnSpPr>
            <a:stCxn id="58" idx="3"/>
            <a:endCxn id="94" idx="1"/>
          </p:cNvCxnSpPr>
          <p:nvPr/>
        </p:nvCxnSpPr>
        <p:spPr>
          <a:xfrm flipV="1">
            <a:off x="9764204" y="5123863"/>
            <a:ext cx="596201" cy="1967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610AD4EE-01CB-D85D-2D13-22F73FEFD4DC}"/>
              </a:ext>
            </a:extLst>
          </p:cNvPr>
          <p:cNvCxnSpPr>
            <a:stCxn id="59" idx="3"/>
            <a:endCxn id="94" idx="1"/>
          </p:cNvCxnSpPr>
          <p:nvPr/>
        </p:nvCxnSpPr>
        <p:spPr>
          <a:xfrm flipV="1">
            <a:off x="9764204" y="5123863"/>
            <a:ext cx="596201" cy="8215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60DE949-86C8-6B05-4FF4-7E2A9BBD5435}"/>
              </a:ext>
            </a:extLst>
          </p:cNvPr>
          <p:cNvSpPr/>
          <p:nvPr/>
        </p:nvSpPr>
        <p:spPr>
          <a:xfrm>
            <a:off x="11986704" y="2894427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asks for care giver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DC2F9F6-C957-3C48-1F6B-D9703A3A317D}"/>
              </a:ext>
            </a:extLst>
          </p:cNvPr>
          <p:cNvSpPr/>
          <p:nvPr/>
        </p:nvSpPr>
        <p:spPr>
          <a:xfrm>
            <a:off x="11986704" y="3473547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asks for a clinical trial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1433DB5-D932-D649-D051-EE44B65A416C}"/>
              </a:ext>
            </a:extLst>
          </p:cNvPr>
          <p:cNvSpPr/>
          <p:nvPr/>
        </p:nvSpPr>
        <p:spPr>
          <a:xfrm>
            <a:off x="11986704" y="4098387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asks for a facility</a:t>
            </a:r>
          </a:p>
        </p:txBody>
      </p: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E221498B-4CFF-4B11-FD0F-CB8E9CC11835}"/>
              </a:ext>
            </a:extLst>
          </p:cNvPr>
          <p:cNvCxnSpPr>
            <a:cxnSpLocks/>
            <a:stCxn id="94" idx="0"/>
            <a:endCxn id="111" idx="1"/>
          </p:cNvCxnSpPr>
          <p:nvPr/>
        </p:nvCxnSpPr>
        <p:spPr>
          <a:xfrm rot="5400000" flipH="1" flipV="1">
            <a:off x="10725586" y="3649386"/>
            <a:ext cx="1802716" cy="7195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18BF81C-B95F-CAF1-3D98-5F9DEBF394BC}"/>
              </a:ext>
            </a:extLst>
          </p:cNvPr>
          <p:cNvSpPr/>
          <p:nvPr/>
        </p:nvSpPr>
        <p:spPr>
          <a:xfrm>
            <a:off x="13619924" y="1886541"/>
            <a:ext cx="1173480" cy="393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Structured output with strict schema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4B589B2-2974-6A8E-04FA-2BA69E4AD6E6}"/>
              </a:ext>
            </a:extLst>
          </p:cNvPr>
          <p:cNvGrpSpPr/>
          <p:nvPr/>
        </p:nvGrpSpPr>
        <p:grpSpPr>
          <a:xfrm>
            <a:off x="3343015" y="3040383"/>
            <a:ext cx="2718653" cy="1826431"/>
            <a:chOff x="3348419" y="2625422"/>
            <a:chExt cx="2718653" cy="1826431"/>
          </a:xfrm>
        </p:grpSpPr>
        <p:sp>
          <p:nvSpPr>
            <p:cNvPr id="129" name="Pentagon 128">
              <a:extLst>
                <a:ext uri="{FF2B5EF4-FFF2-40B4-BE49-F238E27FC236}">
                  <a16:creationId xmlns:a16="http://schemas.microsoft.com/office/drawing/2014/main" id="{68CB9649-9A10-7FE9-A621-6AA42265FFEB}"/>
                </a:ext>
              </a:extLst>
            </p:cNvPr>
            <p:cNvSpPr/>
            <p:nvPr/>
          </p:nvSpPr>
          <p:spPr>
            <a:xfrm>
              <a:off x="3348419" y="2625422"/>
              <a:ext cx="2718653" cy="1826431"/>
            </a:xfrm>
            <a:prstGeom prst="pentag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   Prompt Factory</a:t>
              </a:r>
              <a:r>
                <a:rPr lang="en-US" sz="1200" dirty="0"/>
                <a:t> </a:t>
              </a:r>
            </a:p>
            <a:p>
              <a:r>
                <a:rPr lang="en-US" dirty="0"/>
                <a:t>part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D0DC191-D129-272B-8197-CFE2FF0EA0A8}"/>
                </a:ext>
              </a:extLst>
            </p:cNvPr>
            <p:cNvSpPr txBox="1"/>
            <p:nvPr/>
          </p:nvSpPr>
          <p:spPr>
            <a:xfrm>
              <a:off x="3549250" y="3578860"/>
              <a:ext cx="234747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/>
                <a:t>Manufactures multi-Part prompt that describes process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/>
                <a:t>AI must take it through a reasoning path</a:t>
              </a:r>
            </a:p>
          </p:txBody>
        </p:sp>
      </p:grp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4AE2A9A7-B9A6-0C5C-7946-07C31160B75D}"/>
              </a:ext>
            </a:extLst>
          </p:cNvPr>
          <p:cNvCxnSpPr>
            <a:cxnSpLocks/>
            <a:stCxn id="129" idx="5"/>
            <a:endCxn id="128" idx="0"/>
          </p:cNvCxnSpPr>
          <p:nvPr/>
        </p:nvCxnSpPr>
        <p:spPr>
          <a:xfrm flipV="1">
            <a:off x="6061665" y="1886541"/>
            <a:ext cx="8144999" cy="1851475"/>
          </a:xfrm>
          <a:prstGeom prst="bentConnector4">
            <a:avLst>
              <a:gd name="adj1" fmla="val 12718"/>
              <a:gd name="adj2" fmla="val 1561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3680C6A2-4A3E-215D-0328-B80B929FBC97}"/>
              </a:ext>
            </a:extLst>
          </p:cNvPr>
          <p:cNvCxnSpPr>
            <a:stCxn id="128" idx="1"/>
            <a:endCxn id="91" idx="2"/>
          </p:cNvCxnSpPr>
          <p:nvPr/>
        </p:nvCxnSpPr>
        <p:spPr>
          <a:xfrm rot="10800000">
            <a:off x="12624568" y="1355459"/>
            <a:ext cx="995356" cy="72793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: Elbow 198">
            <a:extLst>
              <a:ext uri="{FF2B5EF4-FFF2-40B4-BE49-F238E27FC236}">
                <a16:creationId xmlns:a16="http://schemas.microsoft.com/office/drawing/2014/main" id="{2B6027E5-7A0B-EEB0-82B1-DFDAC57C8C4A}"/>
              </a:ext>
            </a:extLst>
          </p:cNvPr>
          <p:cNvCxnSpPr>
            <a:stCxn id="94" idx="0"/>
            <a:endCxn id="112" idx="1"/>
          </p:cNvCxnSpPr>
          <p:nvPr/>
        </p:nvCxnSpPr>
        <p:spPr>
          <a:xfrm rot="5400000" flipH="1" flipV="1">
            <a:off x="11015146" y="3938946"/>
            <a:ext cx="1223596" cy="7195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: Elbow 200">
            <a:extLst>
              <a:ext uri="{FF2B5EF4-FFF2-40B4-BE49-F238E27FC236}">
                <a16:creationId xmlns:a16="http://schemas.microsoft.com/office/drawing/2014/main" id="{89CE69C4-DDCD-1830-73AE-4C1B9E18189A}"/>
              </a:ext>
            </a:extLst>
          </p:cNvPr>
          <p:cNvCxnSpPr>
            <a:stCxn id="94" idx="0"/>
            <a:endCxn id="113" idx="1"/>
          </p:cNvCxnSpPr>
          <p:nvPr/>
        </p:nvCxnSpPr>
        <p:spPr>
          <a:xfrm rot="5400000" flipH="1" flipV="1">
            <a:off x="11327566" y="4251366"/>
            <a:ext cx="598756" cy="7195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1DDD8D9-5187-2003-D77F-80A82AA84ABC}"/>
              </a:ext>
            </a:extLst>
          </p:cNvPr>
          <p:cNvSpPr/>
          <p:nvPr/>
        </p:nvSpPr>
        <p:spPr>
          <a:xfrm>
            <a:off x="13218902" y="4747322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Care giver Tool (deterministic)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D46B4149-564A-B06A-6053-8390213A6FE3}"/>
              </a:ext>
            </a:extLst>
          </p:cNvPr>
          <p:cNvSpPr/>
          <p:nvPr/>
        </p:nvSpPr>
        <p:spPr>
          <a:xfrm>
            <a:off x="13218902" y="5351842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Clinical trial Tool (deterministic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AFE8074F-050E-3B99-09FB-A51973FBD1F2}"/>
              </a:ext>
            </a:extLst>
          </p:cNvPr>
          <p:cNvSpPr/>
          <p:nvPr/>
        </p:nvSpPr>
        <p:spPr>
          <a:xfrm>
            <a:off x="13218902" y="5875082"/>
            <a:ext cx="1813560" cy="4267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Facily</a:t>
            </a:r>
            <a:r>
              <a:rPr lang="en-US" sz="900" dirty="0">
                <a:solidFill>
                  <a:schemeClr val="tx1"/>
                </a:solidFill>
              </a:rPr>
              <a:t> Choices (deterministic)</a:t>
            </a:r>
          </a:p>
        </p:txBody>
      </p:sp>
      <p:cxnSp>
        <p:nvCxnSpPr>
          <p:cNvPr id="206" name="Connector: Elbow 205">
            <a:extLst>
              <a:ext uri="{FF2B5EF4-FFF2-40B4-BE49-F238E27FC236}">
                <a16:creationId xmlns:a16="http://schemas.microsoft.com/office/drawing/2014/main" id="{F45B7F75-8AD0-4690-868A-908FC8EF1799}"/>
              </a:ext>
            </a:extLst>
          </p:cNvPr>
          <p:cNvCxnSpPr>
            <a:stCxn id="111" idx="0"/>
            <a:endCxn id="128" idx="2"/>
          </p:cNvCxnSpPr>
          <p:nvPr/>
        </p:nvCxnSpPr>
        <p:spPr>
          <a:xfrm rot="5400000" flipH="1" flipV="1">
            <a:off x="13242981" y="1930744"/>
            <a:ext cx="614186" cy="131318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: Elbow 207">
            <a:extLst>
              <a:ext uri="{FF2B5EF4-FFF2-40B4-BE49-F238E27FC236}">
                <a16:creationId xmlns:a16="http://schemas.microsoft.com/office/drawing/2014/main" id="{AAA9AC78-39A4-D11D-E44C-13F7693C4F2F}"/>
              </a:ext>
            </a:extLst>
          </p:cNvPr>
          <p:cNvCxnSpPr>
            <a:stCxn id="112" idx="3"/>
            <a:endCxn id="128" idx="2"/>
          </p:cNvCxnSpPr>
          <p:nvPr/>
        </p:nvCxnSpPr>
        <p:spPr>
          <a:xfrm flipV="1">
            <a:off x="13800264" y="2280241"/>
            <a:ext cx="406400" cy="14066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: Elbow 209">
            <a:extLst>
              <a:ext uri="{FF2B5EF4-FFF2-40B4-BE49-F238E27FC236}">
                <a16:creationId xmlns:a16="http://schemas.microsoft.com/office/drawing/2014/main" id="{03C1DFC2-9B62-CF33-BCF3-6FB8F58780F8}"/>
              </a:ext>
            </a:extLst>
          </p:cNvPr>
          <p:cNvCxnSpPr>
            <a:stCxn id="113" idx="3"/>
            <a:endCxn id="128" idx="2"/>
          </p:cNvCxnSpPr>
          <p:nvPr/>
        </p:nvCxnSpPr>
        <p:spPr>
          <a:xfrm flipV="1">
            <a:off x="13800264" y="2280241"/>
            <a:ext cx="406400" cy="20315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: Elbow 212">
            <a:extLst>
              <a:ext uri="{FF2B5EF4-FFF2-40B4-BE49-F238E27FC236}">
                <a16:creationId xmlns:a16="http://schemas.microsoft.com/office/drawing/2014/main" id="{AD6C3388-34A6-71E5-358A-76C9CC5C9D11}"/>
              </a:ext>
            </a:extLst>
          </p:cNvPr>
          <p:cNvCxnSpPr>
            <a:cxnSpLocks/>
          </p:cNvCxnSpPr>
          <p:nvPr/>
        </p:nvCxnSpPr>
        <p:spPr>
          <a:xfrm flipH="1">
            <a:off x="14125682" y="2069135"/>
            <a:ext cx="667722" cy="2663931"/>
          </a:xfrm>
          <a:prstGeom prst="bentConnector4">
            <a:avLst>
              <a:gd name="adj1" fmla="val -34236"/>
              <a:gd name="adj2" fmla="val 8871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: Elbow 217">
            <a:extLst>
              <a:ext uri="{FF2B5EF4-FFF2-40B4-BE49-F238E27FC236}">
                <a16:creationId xmlns:a16="http://schemas.microsoft.com/office/drawing/2014/main" id="{44ECB6A1-643A-FB76-F34A-AA8E0D03D451}"/>
              </a:ext>
            </a:extLst>
          </p:cNvPr>
          <p:cNvCxnSpPr>
            <a:stCxn id="128" idx="3"/>
            <a:endCxn id="203" idx="3"/>
          </p:cNvCxnSpPr>
          <p:nvPr/>
        </p:nvCxnSpPr>
        <p:spPr>
          <a:xfrm>
            <a:off x="14793404" y="2083391"/>
            <a:ext cx="239058" cy="3481811"/>
          </a:xfrm>
          <a:prstGeom prst="bentConnector3">
            <a:avLst>
              <a:gd name="adj1" fmla="val 19562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: Elbow 219">
            <a:extLst>
              <a:ext uri="{FF2B5EF4-FFF2-40B4-BE49-F238E27FC236}">
                <a16:creationId xmlns:a16="http://schemas.microsoft.com/office/drawing/2014/main" id="{795DD26F-D2D8-DF4B-638A-23EFFFA4A79A}"/>
              </a:ext>
            </a:extLst>
          </p:cNvPr>
          <p:cNvCxnSpPr>
            <a:stCxn id="128" idx="3"/>
            <a:endCxn id="204" idx="3"/>
          </p:cNvCxnSpPr>
          <p:nvPr/>
        </p:nvCxnSpPr>
        <p:spPr>
          <a:xfrm>
            <a:off x="14793404" y="2083391"/>
            <a:ext cx="239058" cy="4005051"/>
          </a:xfrm>
          <a:prstGeom prst="bentConnector3">
            <a:avLst>
              <a:gd name="adj1" fmla="val 19562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5E83C425-56FE-0710-A177-6A2D65150DDC}"/>
              </a:ext>
            </a:extLst>
          </p:cNvPr>
          <p:cNvSpPr txBox="1"/>
          <p:nvPr/>
        </p:nvSpPr>
        <p:spPr>
          <a:xfrm>
            <a:off x="3887609" y="107922"/>
            <a:ext cx="8820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Prompt Architecture: fundamental idea: 1 Prompt does all the work via a prompt factory</a:t>
            </a:r>
          </a:p>
        </p:txBody>
      </p:sp>
    </p:spTree>
    <p:extLst>
      <p:ext uri="{BB962C8B-B14F-4D97-AF65-F5344CB8AC3E}">
        <p14:creationId xmlns:p14="http://schemas.microsoft.com/office/powerpoint/2010/main" val="3624360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209</Words>
  <Application>Microsoft Office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skip snow</dc:creator>
  <cp:lastModifiedBy>skip snow</cp:lastModifiedBy>
  <cp:revision>2</cp:revision>
  <dcterms:created xsi:type="dcterms:W3CDTF">2026-04-13T16:02:25Z</dcterms:created>
  <dcterms:modified xsi:type="dcterms:W3CDTF">2026-04-13T17:13:39Z</dcterms:modified>
</cp:coreProperties>
</file>